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rebuchet MS" charset="1" panose="020B0603020202020204"/>
      <p:regular r:id="rId18"/>
    </p:embeddedFont>
    <p:embeddedFont>
      <p:font typeface="Trebuchet MS Bold" charset="1" panose="020B070302020202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Canva Sans Bold" charset="1" panose="020B0803030501040103"/>
      <p:regular r:id="rId22"/>
    </p:embeddedFont>
    <p:embeddedFont>
      <p:font typeface="Calibri (MS) Bold" charset="1" panose="020F07020304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35131" cy="10312403"/>
            <a:chOff x="0" y="0"/>
            <a:chExt cx="18017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4630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08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732890"/>
                  </a:lnTo>
                  <a:cubicBezTo>
                    <a:pt x="180086" y="13742290"/>
                    <a:pt x="172466" y="13749782"/>
                    <a:pt x="16319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3195" y="13716000"/>
                  </a:lnTo>
                  <a:lnTo>
                    <a:pt x="163195" y="13732890"/>
                  </a:lnTo>
                  <a:lnTo>
                    <a:pt x="146304" y="13732890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2594" y="2564688"/>
            <a:ext cx="9144000" cy="2089051"/>
            <a:chOff x="0" y="0"/>
            <a:chExt cx="12192000" cy="27854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2785401"/>
            </a:xfrm>
            <a:custGeom>
              <a:avLst/>
              <a:gdLst/>
              <a:ahLst/>
              <a:cxnLst/>
              <a:rect r="r" b="b" t="t" l="l"/>
              <a:pathLst>
                <a:path h="2785401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785401"/>
                  </a:lnTo>
                  <a:lnTo>
                    <a:pt x="0" y="27854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39" r="0" b="-334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192000" cy="2794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>
                  <a:solidFill>
                    <a:srgbClr val="F5F0E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fest</a:t>
              </a:r>
              <a:r>
                <a:rPr lang="en-US" sz="11199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2594" y="4229105"/>
            <a:ext cx="11887200" cy="914400"/>
            <a:chOff x="0" y="0"/>
            <a:chExt cx="158496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849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C8F13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Chaos to Celebration — One Platform for Every Fest.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2594" y="5560566"/>
            <a:ext cx="8255003" cy="71123"/>
            <a:chOff x="0" y="0"/>
            <a:chExt cx="11006671" cy="94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60960"/>
            </a:xfrm>
            <a:custGeom>
              <a:avLst/>
              <a:gdLst/>
              <a:ahLst/>
              <a:cxnLst/>
              <a:rect r="r" b="b" t="t" l="l"/>
              <a:pathLst>
                <a:path h="60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94744"/>
            </a:xfrm>
            <a:custGeom>
              <a:avLst/>
              <a:gdLst/>
              <a:ahLst/>
              <a:cxnLst/>
              <a:rect r="r" b="b" t="t" l="l"/>
              <a:pathLst>
                <a:path h="9474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7851"/>
                  </a:lnTo>
                  <a:cubicBezTo>
                    <a:pt x="11006582" y="87249"/>
                    <a:pt x="10998962" y="94742"/>
                    <a:pt x="1098969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10989691" y="60960"/>
                  </a:lnTo>
                  <a:lnTo>
                    <a:pt x="10989691" y="77851"/>
                  </a:lnTo>
                  <a:lnTo>
                    <a:pt x="10972800" y="77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423143" y="901703"/>
            <a:ext cx="5328923" cy="8437883"/>
            <a:chOff x="0" y="0"/>
            <a:chExt cx="7105231" cy="11250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071360" cy="11216640"/>
            </a:xfrm>
            <a:custGeom>
              <a:avLst/>
              <a:gdLst/>
              <a:ahLst/>
              <a:cxnLst/>
              <a:rect r="r" b="b" t="t" l="l"/>
              <a:pathLst>
                <a:path h="11216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1216640"/>
                  </a:lnTo>
                  <a:lnTo>
                    <a:pt x="0" y="1121664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5142" cy="11250422"/>
            </a:xfrm>
            <a:custGeom>
              <a:avLst/>
              <a:gdLst/>
              <a:ahLst/>
              <a:cxnLst/>
              <a:rect r="r" b="b" t="t" l="l"/>
              <a:pathLst>
                <a:path h="112504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1233531"/>
                  </a:lnTo>
                  <a:cubicBezTo>
                    <a:pt x="7105142" y="11242929"/>
                    <a:pt x="7097522" y="11250422"/>
                    <a:pt x="7088251" y="11250422"/>
                  </a:cubicBezTo>
                  <a:lnTo>
                    <a:pt x="16891" y="11250422"/>
                  </a:lnTo>
                  <a:cubicBezTo>
                    <a:pt x="7493" y="11250422"/>
                    <a:pt x="0" y="11242802"/>
                    <a:pt x="0" y="11233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233531"/>
                  </a:lnTo>
                  <a:lnTo>
                    <a:pt x="16891" y="11233531"/>
                  </a:lnTo>
                  <a:lnTo>
                    <a:pt x="16891" y="11216640"/>
                  </a:lnTo>
                  <a:lnTo>
                    <a:pt x="7088251" y="11216640"/>
                  </a:lnTo>
                  <a:lnTo>
                    <a:pt x="7088251" y="11233531"/>
                  </a:lnTo>
                  <a:lnTo>
                    <a:pt x="7071360" y="112335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93040" y="1426464"/>
            <a:ext cx="548640" cy="548640"/>
            <a:chOff x="0" y="0"/>
            <a:chExt cx="731520" cy="73152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24560" y="1280160"/>
            <a:ext cx="3840480" cy="822960"/>
            <a:chOff x="0" y="0"/>
            <a:chExt cx="51206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 Lifecycle Mgmt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93040" y="2633472"/>
            <a:ext cx="548640" cy="548640"/>
            <a:chOff x="0" y="0"/>
            <a:chExt cx="731520" cy="73152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624560" y="2487168"/>
            <a:ext cx="3840480" cy="822960"/>
            <a:chOff x="0" y="0"/>
            <a:chExt cx="512064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 Tracking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93040" y="3840480"/>
            <a:ext cx="548640" cy="548640"/>
            <a:chOff x="0" y="0"/>
            <a:chExt cx="731520" cy="73152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624560" y="3694176"/>
            <a:ext cx="3840480" cy="822960"/>
            <a:chOff x="0" y="0"/>
            <a:chExt cx="51206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Vendor Sourcing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93040" y="5047488"/>
            <a:ext cx="548640" cy="548640"/>
            <a:chOff x="0" y="0"/>
            <a:chExt cx="731520" cy="73152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624560" y="4901184"/>
            <a:ext cx="3840480" cy="822960"/>
            <a:chOff x="0" y="0"/>
            <a:chExt cx="512064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 Sales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893040" y="6254496"/>
            <a:ext cx="548640" cy="548640"/>
            <a:chOff x="0" y="0"/>
            <a:chExt cx="731520" cy="73152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624560" y="6108192"/>
            <a:ext cx="3840480" cy="822960"/>
            <a:chOff x="0" y="0"/>
            <a:chExt cx="512064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Sponsorship Pipeline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893040" y="7461504"/>
            <a:ext cx="548640" cy="548640"/>
            <a:chOff x="0" y="0"/>
            <a:chExt cx="731520" cy="73152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624560" y="7315200"/>
            <a:ext cx="3840480" cy="822960"/>
            <a:chOff x="0" y="0"/>
            <a:chExt cx="512064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1206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Coordination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02594" y="252603"/>
            <a:ext cx="9017894" cy="2380869"/>
            <a:chOff x="0" y="0"/>
            <a:chExt cx="1397108" cy="3688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97108" cy="368859"/>
            </a:xfrm>
            <a:custGeom>
              <a:avLst/>
              <a:gdLst/>
              <a:ahLst/>
              <a:cxnLst/>
              <a:rect r="r" b="b" t="t" l="l"/>
              <a:pathLst>
                <a:path h="368859" w="1397108">
                  <a:moveTo>
                    <a:pt x="0" y="0"/>
                  </a:moveTo>
                  <a:lnTo>
                    <a:pt x="1397108" y="0"/>
                  </a:lnTo>
                  <a:lnTo>
                    <a:pt x="1397108" y="368859"/>
                  </a:lnTo>
                  <a:lnTo>
                    <a:pt x="0" y="368859"/>
                  </a:lnTo>
                  <a:close/>
                </a:path>
              </a:pathLst>
            </a:custGeom>
            <a:blipFill>
              <a:blip r:embed="rId9"/>
              <a:stretch>
                <a:fillRect l="0" t="-1189" r="0" b="-1189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02594" y="5735103"/>
            <a:ext cx="8241406" cy="474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1"/>
              </a:lnSpc>
            </a:pPr>
            <a:r>
              <a:rPr lang="en-US" sz="3057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To: Prof. Anukreeti Chaudhary</a:t>
            </a:r>
          </a:p>
          <a:p>
            <a:pPr algn="l">
              <a:lnSpc>
                <a:spcPts val="4281"/>
              </a:lnSpc>
            </a:pPr>
            <a:r>
              <a:rPr lang="en-US" sz="3057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Subject : Entrepreneurship</a:t>
            </a:r>
          </a:p>
          <a:p>
            <a:pPr algn="l">
              <a:lnSpc>
                <a:spcPts val="2954"/>
              </a:lnSpc>
            </a:pPr>
          </a:p>
          <a:p>
            <a:pPr algn="l">
              <a:lnSpc>
                <a:spcPts val="3623"/>
              </a:lnSpc>
            </a:pPr>
            <a:r>
              <a:rPr lang="en-US" sz="2588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by: Tanvi Dave - 242126</a:t>
            </a:r>
          </a:p>
          <a:p>
            <a:pPr algn="l">
              <a:lnSpc>
                <a:spcPts val="3623"/>
              </a:lnSpc>
            </a:pPr>
            <a:r>
              <a:rPr lang="en-US" sz="2588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Shubhangni Chawla - 242119</a:t>
            </a:r>
          </a:p>
          <a:p>
            <a:pPr algn="l">
              <a:lnSpc>
                <a:spcPts val="3623"/>
              </a:lnSpc>
            </a:pPr>
            <a:r>
              <a:rPr lang="en-US" sz="2588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Akanksha Rajpurohit - 242111</a:t>
            </a:r>
          </a:p>
          <a:p>
            <a:pPr algn="l">
              <a:lnSpc>
                <a:spcPts val="3623"/>
              </a:lnSpc>
            </a:pPr>
            <a:r>
              <a:rPr lang="en-US" sz="2588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Kavya Gajjar - 242164</a:t>
            </a:r>
          </a:p>
          <a:p>
            <a:pPr algn="l">
              <a:lnSpc>
                <a:spcPts val="3623"/>
              </a:lnSpc>
            </a:pPr>
            <a:r>
              <a:rPr lang="en-US" sz="2588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Pari Rangrej - 242118</a:t>
            </a:r>
          </a:p>
          <a:p>
            <a:pPr algn="l">
              <a:lnSpc>
                <a:spcPts val="3623"/>
              </a:lnSpc>
            </a:pPr>
            <a:r>
              <a:rPr lang="en-US" sz="2588" b="true">
                <a:solidFill>
                  <a:srgbClr val="CCCCC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B.Tech - DIvision D </a:t>
            </a:r>
          </a:p>
          <a:p>
            <a:pPr algn="ctr">
              <a:lnSpc>
                <a:spcPts val="456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FF4D6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71600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College fests run on chaos.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821943"/>
            <a:ext cx="16484603" cy="2494283"/>
            <a:chOff x="0" y="0"/>
            <a:chExt cx="21979471" cy="3325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1945599" cy="3291840"/>
            </a:xfrm>
            <a:custGeom>
              <a:avLst/>
              <a:gdLst/>
              <a:ahLst/>
              <a:cxnLst/>
              <a:rect r="r" b="b" t="t" l="l"/>
              <a:pathLst>
                <a:path h="329184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A080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93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3308731"/>
                  </a:lnTo>
                  <a:cubicBezTo>
                    <a:pt x="21979382" y="3318129"/>
                    <a:pt x="21971763" y="3325622"/>
                    <a:pt x="21962490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21962490" y="3291840"/>
                  </a:lnTo>
                  <a:lnTo>
                    <a:pt x="21962490" y="3308731"/>
                  </a:lnTo>
                  <a:lnTo>
                    <a:pt x="21945600" y="330873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6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1703" y="2821943"/>
            <a:ext cx="153419" cy="2494283"/>
            <a:chOff x="0" y="0"/>
            <a:chExt cx="204559" cy="3325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4D6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4D6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926080"/>
            <a:ext cx="15727680" cy="2286000"/>
            <a:chOff x="0" y="0"/>
            <a:chExt cx="20970240" cy="304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3048000"/>
            </a:xfrm>
            <a:custGeom>
              <a:avLst/>
              <a:gdLst/>
              <a:ahLst/>
              <a:cxnLst/>
              <a:rect r="r" b="b" t="t" l="l"/>
              <a:pathLst>
                <a:path h="30480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057" r="0" b="-840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97024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DDDD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College fest organizers in India lack a unified digital platform to manage the complete lifecycle of a fest — from budgeting and vendor sourcing to ticketing, team coordination, and sponsorship acquisition — forcing them to rely on fragmented, manual tools that lead to financial mismanagement, operational inefficiency, and missed sponsorship opportunities.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5656583"/>
            <a:ext cx="5328923" cy="3957323"/>
            <a:chOff x="0" y="0"/>
            <a:chExt cx="7105231" cy="5276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07136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514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5259451"/>
                  </a:lnTo>
                  <a:cubicBezTo>
                    <a:pt x="7105142" y="5268849"/>
                    <a:pt x="7097522" y="5276342"/>
                    <a:pt x="708825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088251" y="5242560"/>
                  </a:lnTo>
                  <a:lnTo>
                    <a:pt x="7088251" y="5259451"/>
                  </a:lnTo>
                  <a:lnTo>
                    <a:pt x="7071360" y="5259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0160" y="5943600"/>
            <a:ext cx="694944" cy="694944"/>
            <a:chOff x="0" y="0"/>
            <a:chExt cx="926592" cy="926592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160" y="6766560"/>
            <a:ext cx="4663440" cy="640080"/>
            <a:chOff x="0" y="0"/>
            <a:chExt cx="621792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2179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Financial Chaos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80160" y="7498080"/>
            <a:ext cx="4754880" cy="1828800"/>
            <a:chOff x="0" y="0"/>
            <a:chExt cx="6339840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98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33984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DDDD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Budgets tracked on Excel sheets with no real-time visibility or audit trail.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0983" y="5656583"/>
            <a:ext cx="5328923" cy="3957323"/>
            <a:chOff x="0" y="0"/>
            <a:chExt cx="7105231" cy="52764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07136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0514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5259451"/>
                  </a:lnTo>
                  <a:cubicBezTo>
                    <a:pt x="7105142" y="5268849"/>
                    <a:pt x="7097522" y="5276342"/>
                    <a:pt x="708825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088251" y="5242560"/>
                  </a:lnTo>
                  <a:lnTo>
                    <a:pt x="7088251" y="5259451"/>
                  </a:lnTo>
                  <a:lnTo>
                    <a:pt x="7071360" y="5259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949440" y="5943600"/>
            <a:ext cx="694944" cy="694944"/>
            <a:chOff x="0" y="0"/>
            <a:chExt cx="926592" cy="92659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49440" y="6766560"/>
            <a:ext cx="4663440" cy="640080"/>
            <a:chOff x="0" y="0"/>
            <a:chExt cx="621792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2179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Operational Mess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49440" y="7498080"/>
            <a:ext cx="4754880" cy="1828800"/>
            <a:chOff x="0" y="0"/>
            <a:chExt cx="6339840" cy="2438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398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33984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DDDD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coordination over WhatsApp with zero structure, missed tasks, and no accountability.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40263" y="5656583"/>
            <a:ext cx="5328923" cy="3957323"/>
            <a:chOff x="0" y="0"/>
            <a:chExt cx="7105231" cy="52764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707136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0514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5259451"/>
                  </a:lnTo>
                  <a:cubicBezTo>
                    <a:pt x="7105142" y="5268849"/>
                    <a:pt x="7097522" y="5276342"/>
                    <a:pt x="708825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088251" y="5242560"/>
                  </a:lnTo>
                  <a:lnTo>
                    <a:pt x="7088251" y="5259451"/>
                  </a:lnTo>
                  <a:lnTo>
                    <a:pt x="7071360" y="52594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2A2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618720" y="5943600"/>
            <a:ext cx="694944" cy="694944"/>
            <a:chOff x="0" y="0"/>
            <a:chExt cx="926592" cy="926592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618720" y="6766560"/>
            <a:ext cx="4663440" cy="640080"/>
            <a:chOff x="0" y="0"/>
            <a:chExt cx="621792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2179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Missed Sponsorships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18720" y="7498080"/>
            <a:ext cx="4754880" cy="1828800"/>
            <a:chOff x="0" y="0"/>
            <a:chExt cx="6339840" cy="2438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398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33984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DDDD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Sponsor outreach done manually with no pipeline — deals fall through the cracks.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71600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One platform. Every stakeholder.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913383"/>
            <a:ext cx="5511803" cy="6791963"/>
            <a:chOff x="0" y="0"/>
            <a:chExt cx="7349071" cy="9055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9022081"/>
            </a:xfrm>
            <a:custGeom>
              <a:avLst/>
              <a:gdLst/>
              <a:ahLst/>
              <a:cxnLst/>
              <a:rect r="r" b="b" t="t" l="l"/>
              <a:pathLst>
                <a:path h="902208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0F1A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898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038972"/>
                  </a:lnTo>
                  <a:cubicBezTo>
                    <a:pt x="7348982" y="9048369"/>
                    <a:pt x="7341362" y="9055862"/>
                    <a:pt x="7332091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332091" y="9022080"/>
                  </a:lnTo>
                  <a:lnTo>
                    <a:pt x="7332091" y="9038972"/>
                  </a:lnTo>
                  <a:lnTo>
                    <a:pt x="7315200" y="9038972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2913383"/>
            <a:ext cx="5511803" cy="153419"/>
            <a:chOff x="0" y="0"/>
            <a:chExt cx="7349071" cy="204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8F1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200400"/>
            <a:ext cx="694944" cy="694944"/>
            <a:chOff x="0" y="0"/>
            <a:chExt cx="926592" cy="92659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37360" y="3255264"/>
            <a:ext cx="4023360" cy="640080"/>
            <a:chOff x="0" y="0"/>
            <a:chExt cx="536448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ORGANIZER PORTAL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4023360"/>
            <a:ext cx="4937760" cy="822960"/>
            <a:chOff x="0" y="0"/>
            <a:chExt cx="65836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583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Manage Everything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4974336"/>
            <a:ext cx="4937760" cy="694944"/>
            <a:chOff x="0" y="0"/>
            <a:chExt cx="658368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 tracking &amp; expense log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742432"/>
            <a:ext cx="4937760" cy="694944"/>
            <a:chOff x="0" y="0"/>
            <a:chExt cx="658368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Vendor sourcing marketplace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6510528"/>
            <a:ext cx="4937760" cy="694944"/>
            <a:chOff x="0" y="0"/>
            <a:chExt cx="6583680" cy="926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Sponsorship pipeline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7278624"/>
            <a:ext cx="4937760" cy="694944"/>
            <a:chOff x="0" y="0"/>
            <a:chExt cx="6583680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&amp; volunteer management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8046720"/>
            <a:ext cx="4937760" cy="694944"/>
            <a:chOff x="0" y="0"/>
            <a:chExt cx="658368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 scheduling &amp; ticketing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296663" y="2913383"/>
            <a:ext cx="5511803" cy="6791963"/>
            <a:chOff x="0" y="0"/>
            <a:chExt cx="7349071" cy="90559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315200" cy="9022081"/>
            </a:xfrm>
            <a:custGeom>
              <a:avLst/>
              <a:gdLst/>
              <a:ahLst/>
              <a:cxnLst/>
              <a:rect r="r" b="b" t="t" l="l"/>
              <a:pathLst>
                <a:path h="902208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00182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4898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038972"/>
                  </a:lnTo>
                  <a:cubicBezTo>
                    <a:pt x="7348982" y="9048369"/>
                    <a:pt x="7341362" y="9055862"/>
                    <a:pt x="7332091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332091" y="9022080"/>
                  </a:lnTo>
                  <a:lnTo>
                    <a:pt x="7332091" y="9038972"/>
                  </a:lnTo>
                  <a:lnTo>
                    <a:pt x="7315200" y="9038972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296663" y="2913383"/>
            <a:ext cx="5511803" cy="153419"/>
            <a:chOff x="0" y="0"/>
            <a:chExt cx="7349071" cy="2045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75120" y="3200400"/>
            <a:ext cx="694944" cy="694944"/>
            <a:chOff x="0" y="0"/>
            <a:chExt cx="926592" cy="926592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498080" y="3255264"/>
            <a:ext cx="4023360" cy="640080"/>
            <a:chOff x="0" y="0"/>
            <a:chExt cx="536448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PORTAL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675120" y="4023360"/>
            <a:ext cx="4937760" cy="822960"/>
            <a:chOff x="0" y="0"/>
            <a:chExt cx="658368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583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Discover &amp; Participate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75120" y="4974336"/>
            <a:ext cx="4937760" cy="694944"/>
            <a:chOff x="0" y="0"/>
            <a:chExt cx="6583680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Browse &amp; buy fest tickets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675120" y="5742432"/>
            <a:ext cx="4937760" cy="694944"/>
            <a:chOff x="0" y="0"/>
            <a:chExt cx="6583680" cy="926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event schedule by day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675120" y="6510528"/>
            <a:ext cx="4937760" cy="694944"/>
            <a:chOff x="0" y="0"/>
            <a:chExt cx="6583680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 volunteering invites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75120" y="7278624"/>
            <a:ext cx="4937760" cy="694944"/>
            <a:chOff x="0" y="0"/>
            <a:chExt cx="658368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registrations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057383" y="2913383"/>
            <a:ext cx="5511803" cy="6791963"/>
            <a:chOff x="0" y="0"/>
            <a:chExt cx="7349071" cy="90559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7315200" cy="9022081"/>
            </a:xfrm>
            <a:custGeom>
              <a:avLst/>
              <a:gdLst/>
              <a:ahLst/>
              <a:cxnLst/>
              <a:rect r="r" b="b" t="t" l="l"/>
              <a:pathLst>
                <a:path h="902208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10082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4898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038972"/>
                  </a:lnTo>
                  <a:cubicBezTo>
                    <a:pt x="7348982" y="9048369"/>
                    <a:pt x="7341362" y="9055862"/>
                    <a:pt x="7332091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332091" y="9022080"/>
                  </a:lnTo>
                  <a:lnTo>
                    <a:pt x="7332091" y="9038972"/>
                  </a:lnTo>
                  <a:lnTo>
                    <a:pt x="7315200" y="9038972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057383" y="2913383"/>
            <a:ext cx="5511803" cy="153419"/>
            <a:chOff x="0" y="0"/>
            <a:chExt cx="7349071" cy="20455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35840" y="3200400"/>
            <a:ext cx="694944" cy="694944"/>
            <a:chOff x="0" y="0"/>
            <a:chExt cx="926592" cy="926592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258800" y="3255264"/>
            <a:ext cx="4023360" cy="640080"/>
            <a:chOff x="0" y="0"/>
            <a:chExt cx="53644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b="true" sz="1700" spc="3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VENDOR PORTAL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435840" y="4023360"/>
            <a:ext cx="4937760" cy="822960"/>
            <a:chOff x="0" y="0"/>
            <a:chExt cx="65836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5836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Get &amp; Close Deals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435840" y="4974336"/>
            <a:ext cx="4937760" cy="694944"/>
            <a:chOff x="0" y="0"/>
            <a:chExt cx="658368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Receive fest collaboration offers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435840" y="5742432"/>
            <a:ext cx="4937760" cy="694944"/>
            <a:chOff x="0" y="0"/>
            <a:chExt cx="658368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 perk packages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435840" y="6510528"/>
            <a:ext cx="4937760" cy="694944"/>
            <a:chOff x="0" y="0"/>
            <a:chExt cx="6583680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Accept, counter or decline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35840" y="7278624"/>
            <a:ext cx="4937760" cy="694944"/>
            <a:chOff x="0" y="0"/>
            <a:chExt cx="658368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583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all bookings in one place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USERS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716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Built for every stakeholder in the fest ecosystem.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730503"/>
            <a:ext cx="8072123" cy="3225803"/>
            <a:chOff x="0" y="0"/>
            <a:chExt cx="10762831" cy="4301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7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284091"/>
                  </a:lnTo>
                  <a:cubicBezTo>
                    <a:pt x="10762742" y="4293489"/>
                    <a:pt x="10755122" y="4300982"/>
                    <a:pt x="107458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745851" y="4267200"/>
                  </a:lnTo>
                  <a:lnTo>
                    <a:pt x="10745851" y="4284091"/>
                  </a:lnTo>
                  <a:lnTo>
                    <a:pt x="10728960" y="428409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60704" y="3072384"/>
            <a:ext cx="694944" cy="694944"/>
            <a:chOff x="0" y="0"/>
            <a:chExt cx="926592" cy="92659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920240" y="3072384"/>
            <a:ext cx="2743200" cy="457200"/>
            <a:chOff x="0" y="0"/>
            <a:chExt cx="36576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20240" y="3511296"/>
            <a:ext cx="4572000" cy="640080"/>
            <a:chOff x="0" y="0"/>
            <a:chExt cx="60960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0960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Fest Organizers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0704" y="4242816"/>
            <a:ext cx="5486400" cy="1463040"/>
            <a:chOff x="0" y="0"/>
            <a:chExt cx="7315200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315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Cultural secretaries, tech fest heads, organizing committees at engineering, arts &amp; management colleges.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83680" y="3072384"/>
            <a:ext cx="1920240" cy="1097280"/>
            <a:chOff x="0" y="0"/>
            <a:chExt cx="256032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5603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800"/>
                </a:lnSpc>
              </a:pPr>
              <a:r>
                <a:rPr lang="en-US" sz="4000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4,300+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3680" y="4169664"/>
            <a:ext cx="1920240" cy="731520"/>
            <a:chOff x="0" y="0"/>
            <a:chExt cx="256032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603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fests/year in India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22743" y="2730503"/>
            <a:ext cx="8072123" cy="3225803"/>
            <a:chOff x="0" y="0"/>
            <a:chExt cx="10762831" cy="4301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27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284091"/>
                  </a:lnTo>
                  <a:cubicBezTo>
                    <a:pt x="10762742" y="4293489"/>
                    <a:pt x="10755122" y="4300982"/>
                    <a:pt x="107458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745851" y="4267200"/>
                  </a:lnTo>
                  <a:lnTo>
                    <a:pt x="10745851" y="4284091"/>
                  </a:lnTo>
                  <a:lnTo>
                    <a:pt x="10728960" y="428409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64624" y="3072384"/>
            <a:ext cx="694944" cy="694944"/>
            <a:chOff x="0" y="0"/>
            <a:chExt cx="926592" cy="92659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24160" y="3072384"/>
            <a:ext cx="2743200" cy="457200"/>
            <a:chOff x="0" y="0"/>
            <a:chExt cx="36576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SECONDARY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24160" y="3511296"/>
            <a:ext cx="4572000" cy="640080"/>
            <a:chOff x="0" y="0"/>
            <a:chExt cx="609600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0960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Students / Attendees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64624" y="4242816"/>
            <a:ext cx="5486400" cy="1463040"/>
            <a:chOff x="0" y="0"/>
            <a:chExt cx="731520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315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Fest-goers who discover events, purchase tickets, view schedules, and accept volunteer roles.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087600" y="3072384"/>
            <a:ext cx="1920240" cy="1097280"/>
            <a:chOff x="0" y="0"/>
            <a:chExt cx="256032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5603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800"/>
                </a:lnSpc>
              </a:pPr>
              <a:r>
                <a:rPr lang="en-US" sz="4000" b="true">
                  <a:solidFill>
                    <a:srgbClr val="38BDF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43M+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87600" y="4169664"/>
            <a:ext cx="1920240" cy="731520"/>
            <a:chOff x="0" y="0"/>
            <a:chExt cx="256032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5603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students in India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18823" y="6296663"/>
            <a:ext cx="8072123" cy="3225803"/>
            <a:chOff x="0" y="0"/>
            <a:chExt cx="10762831" cy="4301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627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284091"/>
                  </a:lnTo>
                  <a:cubicBezTo>
                    <a:pt x="10762742" y="4293489"/>
                    <a:pt x="10755122" y="4300982"/>
                    <a:pt x="107458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745851" y="4267200"/>
                  </a:lnTo>
                  <a:lnTo>
                    <a:pt x="10745851" y="4284091"/>
                  </a:lnTo>
                  <a:lnTo>
                    <a:pt x="10728960" y="428409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60704" y="6638544"/>
            <a:ext cx="694944" cy="694944"/>
            <a:chOff x="0" y="0"/>
            <a:chExt cx="926592" cy="926592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20240" y="6638544"/>
            <a:ext cx="2743200" cy="457200"/>
            <a:chOff x="0" y="0"/>
            <a:chExt cx="36576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F5F0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TERTIARY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20240" y="7077456"/>
            <a:ext cx="4572000" cy="640080"/>
            <a:chOff x="0" y="0"/>
            <a:chExt cx="60960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0960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Vendors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0704" y="7808976"/>
            <a:ext cx="5486400" cy="1463040"/>
            <a:chOff x="0" y="0"/>
            <a:chExt cx="7315200" cy="1950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315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Sound &amp; lighting, decorators, food stalls, stage fabricators — gaining a structured digital channel.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583680" y="6638544"/>
            <a:ext cx="1920240" cy="1097280"/>
            <a:chOff x="0" y="0"/>
            <a:chExt cx="2560320" cy="14630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25603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800"/>
                </a:lnSpc>
              </a:pPr>
              <a:r>
                <a:rPr lang="en-US" sz="40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₹30K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583680" y="7735824"/>
            <a:ext cx="1920240" cy="731520"/>
            <a:chOff x="0" y="0"/>
            <a:chExt cx="256032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5603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vendor deal per fest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222743" y="6296663"/>
            <a:ext cx="8072123" cy="3225803"/>
            <a:chOff x="0" y="0"/>
            <a:chExt cx="10762831" cy="43010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72896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6274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284091"/>
                  </a:lnTo>
                  <a:cubicBezTo>
                    <a:pt x="10762742" y="4293489"/>
                    <a:pt x="10755122" y="4300982"/>
                    <a:pt x="1074585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745851" y="4267200"/>
                  </a:lnTo>
                  <a:lnTo>
                    <a:pt x="10745851" y="4284091"/>
                  </a:lnTo>
                  <a:lnTo>
                    <a:pt x="10728960" y="428409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564624" y="6638544"/>
            <a:ext cx="694944" cy="694944"/>
            <a:chOff x="0" y="0"/>
            <a:chExt cx="926592" cy="926592"/>
          </a:xfrm>
        </p:grpSpPr>
        <p:sp>
          <p:nvSpPr>
            <p:cNvPr name="Freeform 72" id="7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424160" y="6638544"/>
            <a:ext cx="2743200" cy="457200"/>
            <a:chOff x="0" y="0"/>
            <a:chExt cx="36576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657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ADJACENT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424160" y="7077456"/>
            <a:ext cx="4572000" cy="640080"/>
            <a:chOff x="0" y="0"/>
            <a:chExt cx="6096000" cy="853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60960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Sponsors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64624" y="7808976"/>
            <a:ext cx="5486400" cy="1463040"/>
            <a:chOff x="0" y="0"/>
            <a:chExt cx="7315200" cy="19507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7315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Brands targeting college audiences with no reliable way to discover or evaluate fest opportunities.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087600" y="6638544"/>
            <a:ext cx="1920240" cy="1097280"/>
            <a:chOff x="0" y="0"/>
            <a:chExt cx="2560320" cy="1463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60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25603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₹2L+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087600" y="7735824"/>
            <a:ext cx="1920240" cy="731520"/>
            <a:chOff x="0" y="0"/>
            <a:chExt cx="2560320" cy="9753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60320" cy="975360"/>
            </a:xfrm>
            <a:custGeom>
              <a:avLst/>
              <a:gdLst/>
              <a:ahLst/>
              <a:cxnLst/>
              <a:rect r="r" b="b" t="t" l="l"/>
              <a:pathLst>
                <a:path h="9753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5603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sponsorship deal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822960"/>
            <a:chOff x="0" y="0"/>
            <a:chExt cx="219456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OPPORTUNITY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71600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 massive, undigitized market — waiting to be served.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730503"/>
            <a:ext cx="5420363" cy="6700523"/>
            <a:chOff x="0" y="0"/>
            <a:chExt cx="7227151" cy="8934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193281" cy="8900160"/>
            </a:xfrm>
            <a:custGeom>
              <a:avLst/>
              <a:gdLst/>
              <a:ahLst/>
              <a:cxnLst/>
              <a:rect r="r" b="b" t="t" l="l"/>
              <a:pathLst>
                <a:path h="890016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7062" cy="8933942"/>
            </a:xfrm>
            <a:custGeom>
              <a:avLst/>
              <a:gdLst/>
              <a:ahLst/>
              <a:cxnLst/>
              <a:rect r="r" b="b" t="t" l="l"/>
              <a:pathLst>
                <a:path h="893394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917051"/>
                  </a:lnTo>
                  <a:cubicBezTo>
                    <a:pt x="7227062" y="8926449"/>
                    <a:pt x="7219442" y="8933942"/>
                    <a:pt x="7210172" y="8933942"/>
                  </a:cubicBezTo>
                  <a:lnTo>
                    <a:pt x="16891" y="8933942"/>
                  </a:lnTo>
                  <a:cubicBezTo>
                    <a:pt x="7493" y="8933942"/>
                    <a:pt x="0" y="8926322"/>
                    <a:pt x="0" y="8917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17051"/>
                  </a:lnTo>
                  <a:lnTo>
                    <a:pt x="16891" y="8917051"/>
                  </a:lnTo>
                  <a:lnTo>
                    <a:pt x="16891" y="8900160"/>
                  </a:lnTo>
                  <a:lnTo>
                    <a:pt x="7210172" y="8900160"/>
                  </a:lnTo>
                  <a:lnTo>
                    <a:pt x="7210172" y="8917051"/>
                  </a:lnTo>
                  <a:lnTo>
                    <a:pt x="7193280" y="891705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2730503"/>
            <a:ext cx="5420363" cy="135131"/>
            <a:chOff x="0" y="0"/>
            <a:chExt cx="7227151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193281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062" cy="180088"/>
            </a:xfrm>
            <a:custGeom>
              <a:avLst/>
              <a:gdLst/>
              <a:ahLst/>
              <a:cxnLst/>
              <a:rect r="r" b="b" t="t" l="l"/>
              <a:pathLst>
                <a:path h="180088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63195"/>
                  </a:lnTo>
                  <a:cubicBezTo>
                    <a:pt x="7227062" y="172593"/>
                    <a:pt x="7219442" y="180086"/>
                    <a:pt x="72101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210172" y="146304"/>
                  </a:lnTo>
                  <a:lnTo>
                    <a:pt x="7210172" y="163195"/>
                  </a:lnTo>
                  <a:lnTo>
                    <a:pt x="7193280" y="163195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30503" y="3004823"/>
            <a:ext cx="1451867" cy="1451867"/>
            <a:chOff x="0" y="0"/>
            <a:chExt cx="1935823" cy="19358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950976"/>
                  </a:moveTo>
                  <a:cubicBezTo>
                    <a:pt x="0" y="425704"/>
                    <a:pt x="425704" y="0"/>
                    <a:pt x="950976" y="0"/>
                  </a:cubicBezTo>
                  <a:cubicBezTo>
                    <a:pt x="1476248" y="0"/>
                    <a:pt x="1901952" y="425704"/>
                    <a:pt x="1901952" y="950976"/>
                  </a:cubicBezTo>
                  <a:cubicBezTo>
                    <a:pt x="1901952" y="1476248"/>
                    <a:pt x="1476248" y="1901952"/>
                    <a:pt x="950976" y="1901952"/>
                  </a:cubicBezTo>
                  <a:cubicBezTo>
                    <a:pt x="425704" y="1901952"/>
                    <a:pt x="0" y="1476248"/>
                    <a:pt x="0" y="950976"/>
                  </a:cubicBezTo>
                  <a:close/>
                </a:path>
              </a:pathLst>
            </a:custGeom>
            <a:solidFill>
              <a:srgbClr val="7C3AED">
                <a:alpha val="1961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5734" cy="1935734"/>
            </a:xfrm>
            <a:custGeom>
              <a:avLst/>
              <a:gdLst/>
              <a:ahLst/>
              <a:cxnLst/>
              <a:rect r="r" b="b" t="t" l="l"/>
              <a:pathLst>
                <a:path h="1935734" w="1935734">
                  <a:moveTo>
                    <a:pt x="0" y="967867"/>
                  </a:moveTo>
                  <a:cubicBezTo>
                    <a:pt x="0" y="433324"/>
                    <a:pt x="433324" y="0"/>
                    <a:pt x="967867" y="0"/>
                  </a:cubicBezTo>
                  <a:cubicBezTo>
                    <a:pt x="1502410" y="0"/>
                    <a:pt x="1935734" y="433324"/>
                    <a:pt x="1935734" y="967867"/>
                  </a:cubicBezTo>
                  <a:lnTo>
                    <a:pt x="1918843" y="967867"/>
                  </a:lnTo>
                  <a:lnTo>
                    <a:pt x="1935734" y="967867"/>
                  </a:lnTo>
                  <a:cubicBezTo>
                    <a:pt x="1935734" y="1502410"/>
                    <a:pt x="1502410" y="1935734"/>
                    <a:pt x="967867" y="1935734"/>
                  </a:cubicBezTo>
                  <a:lnTo>
                    <a:pt x="967867" y="1918843"/>
                  </a:lnTo>
                  <a:lnTo>
                    <a:pt x="967867" y="1935734"/>
                  </a:lnTo>
                  <a:cubicBezTo>
                    <a:pt x="433324" y="1935861"/>
                    <a:pt x="0" y="1502410"/>
                    <a:pt x="0" y="967867"/>
                  </a:cubicBezTo>
                  <a:lnTo>
                    <a:pt x="16891" y="967867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0" y="967867"/>
                  </a:lnTo>
                  <a:moveTo>
                    <a:pt x="33909" y="967867"/>
                  </a:moveTo>
                  <a:cubicBezTo>
                    <a:pt x="33909" y="977265"/>
                    <a:pt x="26289" y="984758"/>
                    <a:pt x="17018" y="984758"/>
                  </a:cubicBezTo>
                  <a:cubicBezTo>
                    <a:pt x="7747" y="984758"/>
                    <a:pt x="0" y="977265"/>
                    <a:pt x="0" y="967867"/>
                  </a:cubicBezTo>
                  <a:cubicBezTo>
                    <a:pt x="0" y="958469"/>
                    <a:pt x="7620" y="950976"/>
                    <a:pt x="16891" y="950976"/>
                  </a:cubicBezTo>
                  <a:cubicBezTo>
                    <a:pt x="26162" y="950976"/>
                    <a:pt x="33782" y="958596"/>
                    <a:pt x="33782" y="967867"/>
                  </a:cubicBezTo>
                  <a:cubicBezTo>
                    <a:pt x="33782" y="1483741"/>
                    <a:pt x="451993" y="1901952"/>
                    <a:pt x="967867" y="1901952"/>
                  </a:cubicBezTo>
                  <a:cubicBezTo>
                    <a:pt x="1483741" y="1901952"/>
                    <a:pt x="1901952" y="1483741"/>
                    <a:pt x="1901952" y="967867"/>
                  </a:cubicBezTo>
                  <a:cubicBezTo>
                    <a:pt x="1901952" y="451993"/>
                    <a:pt x="1483741" y="33782"/>
                    <a:pt x="967867" y="33782"/>
                  </a:cubicBezTo>
                  <a:lnTo>
                    <a:pt x="967867" y="16891"/>
                  </a:lnTo>
                  <a:lnTo>
                    <a:pt x="967867" y="33909"/>
                  </a:lnTo>
                  <a:cubicBezTo>
                    <a:pt x="451993" y="33909"/>
                    <a:pt x="33909" y="451993"/>
                    <a:pt x="33909" y="967867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43200" y="3017520"/>
            <a:ext cx="1426464" cy="1426464"/>
            <a:chOff x="0" y="0"/>
            <a:chExt cx="1901952" cy="19019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01952" cy="1901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7C3AE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TAM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0704" y="4663440"/>
            <a:ext cx="4754880" cy="731520"/>
            <a:chOff x="0" y="0"/>
            <a:chExt cx="633984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Addressable Market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394960"/>
            <a:ext cx="5029200" cy="1188720"/>
            <a:chOff x="0" y="0"/>
            <a:chExt cx="6705600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70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7C3AE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₹2,000–5,000 Cr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60704" y="6675120"/>
            <a:ext cx="4754880" cy="2377440"/>
            <a:chOff x="0" y="0"/>
            <a:chExt cx="6339840" cy="3169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3984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Combined fest spend across all Indian colleges — vendors, ticketing, sponsorship, logistics. Entirely unorganized today.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88103" y="2730503"/>
            <a:ext cx="5420363" cy="6700523"/>
            <a:chOff x="0" y="0"/>
            <a:chExt cx="7227151" cy="89340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193281" cy="8900160"/>
            </a:xfrm>
            <a:custGeom>
              <a:avLst/>
              <a:gdLst/>
              <a:ahLst/>
              <a:cxnLst/>
              <a:rect r="r" b="b" t="t" l="l"/>
              <a:pathLst>
                <a:path h="890016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27062" cy="8933942"/>
            </a:xfrm>
            <a:custGeom>
              <a:avLst/>
              <a:gdLst/>
              <a:ahLst/>
              <a:cxnLst/>
              <a:rect r="r" b="b" t="t" l="l"/>
              <a:pathLst>
                <a:path h="893394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917051"/>
                  </a:lnTo>
                  <a:cubicBezTo>
                    <a:pt x="7227062" y="8926449"/>
                    <a:pt x="7219442" y="8933942"/>
                    <a:pt x="7210172" y="8933942"/>
                  </a:cubicBezTo>
                  <a:lnTo>
                    <a:pt x="16891" y="8933942"/>
                  </a:lnTo>
                  <a:cubicBezTo>
                    <a:pt x="7493" y="8933942"/>
                    <a:pt x="0" y="8926322"/>
                    <a:pt x="0" y="8917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17051"/>
                  </a:lnTo>
                  <a:lnTo>
                    <a:pt x="16891" y="8917051"/>
                  </a:lnTo>
                  <a:lnTo>
                    <a:pt x="16891" y="8900160"/>
                  </a:lnTo>
                  <a:lnTo>
                    <a:pt x="7210172" y="8900160"/>
                  </a:lnTo>
                  <a:lnTo>
                    <a:pt x="7210172" y="8917051"/>
                  </a:lnTo>
                  <a:lnTo>
                    <a:pt x="7193280" y="891705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88103" y="2730503"/>
            <a:ext cx="5420363" cy="135131"/>
            <a:chOff x="0" y="0"/>
            <a:chExt cx="7227151" cy="1801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193281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27062" cy="180088"/>
            </a:xfrm>
            <a:custGeom>
              <a:avLst/>
              <a:gdLst/>
              <a:ahLst/>
              <a:cxnLst/>
              <a:rect r="r" b="b" t="t" l="l"/>
              <a:pathLst>
                <a:path h="180088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63195"/>
                  </a:lnTo>
                  <a:cubicBezTo>
                    <a:pt x="7227062" y="172593"/>
                    <a:pt x="7219442" y="180086"/>
                    <a:pt x="72101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210172" y="146304"/>
                  </a:lnTo>
                  <a:lnTo>
                    <a:pt x="7210172" y="163195"/>
                  </a:lnTo>
                  <a:lnTo>
                    <a:pt x="7193280" y="163195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399783" y="3004823"/>
            <a:ext cx="1451867" cy="1451867"/>
            <a:chOff x="0" y="0"/>
            <a:chExt cx="1935823" cy="19358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950976"/>
                  </a:moveTo>
                  <a:cubicBezTo>
                    <a:pt x="0" y="425704"/>
                    <a:pt x="425704" y="0"/>
                    <a:pt x="950976" y="0"/>
                  </a:cubicBezTo>
                  <a:cubicBezTo>
                    <a:pt x="1476248" y="0"/>
                    <a:pt x="1901952" y="425704"/>
                    <a:pt x="1901952" y="950976"/>
                  </a:cubicBezTo>
                  <a:cubicBezTo>
                    <a:pt x="1901952" y="1476248"/>
                    <a:pt x="1476248" y="1901952"/>
                    <a:pt x="950976" y="1901952"/>
                  </a:cubicBezTo>
                  <a:cubicBezTo>
                    <a:pt x="425704" y="1901952"/>
                    <a:pt x="0" y="1476248"/>
                    <a:pt x="0" y="950976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35734" cy="1935734"/>
            </a:xfrm>
            <a:custGeom>
              <a:avLst/>
              <a:gdLst/>
              <a:ahLst/>
              <a:cxnLst/>
              <a:rect r="r" b="b" t="t" l="l"/>
              <a:pathLst>
                <a:path h="1935734" w="1935734">
                  <a:moveTo>
                    <a:pt x="0" y="967867"/>
                  </a:moveTo>
                  <a:cubicBezTo>
                    <a:pt x="0" y="433324"/>
                    <a:pt x="433324" y="0"/>
                    <a:pt x="967867" y="0"/>
                  </a:cubicBezTo>
                  <a:cubicBezTo>
                    <a:pt x="1502410" y="0"/>
                    <a:pt x="1935734" y="433324"/>
                    <a:pt x="1935734" y="967867"/>
                  </a:cubicBezTo>
                  <a:lnTo>
                    <a:pt x="1918843" y="967867"/>
                  </a:lnTo>
                  <a:lnTo>
                    <a:pt x="1935734" y="967867"/>
                  </a:lnTo>
                  <a:cubicBezTo>
                    <a:pt x="1935734" y="1502410"/>
                    <a:pt x="1502410" y="1935734"/>
                    <a:pt x="967867" y="1935734"/>
                  </a:cubicBezTo>
                  <a:lnTo>
                    <a:pt x="967867" y="1918843"/>
                  </a:lnTo>
                  <a:lnTo>
                    <a:pt x="967867" y="1935734"/>
                  </a:lnTo>
                  <a:cubicBezTo>
                    <a:pt x="433324" y="1935861"/>
                    <a:pt x="0" y="1502410"/>
                    <a:pt x="0" y="967867"/>
                  </a:cubicBezTo>
                  <a:lnTo>
                    <a:pt x="16891" y="967867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0" y="967867"/>
                  </a:lnTo>
                  <a:moveTo>
                    <a:pt x="33909" y="967867"/>
                  </a:moveTo>
                  <a:cubicBezTo>
                    <a:pt x="33909" y="977265"/>
                    <a:pt x="26289" y="984758"/>
                    <a:pt x="17018" y="984758"/>
                  </a:cubicBezTo>
                  <a:cubicBezTo>
                    <a:pt x="7747" y="984758"/>
                    <a:pt x="0" y="977265"/>
                    <a:pt x="0" y="967867"/>
                  </a:cubicBezTo>
                  <a:cubicBezTo>
                    <a:pt x="0" y="958469"/>
                    <a:pt x="7620" y="950976"/>
                    <a:pt x="16891" y="950976"/>
                  </a:cubicBezTo>
                  <a:cubicBezTo>
                    <a:pt x="26162" y="950976"/>
                    <a:pt x="33782" y="958596"/>
                    <a:pt x="33782" y="967867"/>
                  </a:cubicBezTo>
                  <a:cubicBezTo>
                    <a:pt x="33782" y="1483741"/>
                    <a:pt x="451993" y="1901952"/>
                    <a:pt x="967867" y="1901952"/>
                  </a:cubicBezTo>
                  <a:cubicBezTo>
                    <a:pt x="1483741" y="1901952"/>
                    <a:pt x="1901952" y="1483741"/>
                    <a:pt x="1901952" y="967867"/>
                  </a:cubicBezTo>
                  <a:cubicBezTo>
                    <a:pt x="1901952" y="451993"/>
                    <a:pt x="1483741" y="33782"/>
                    <a:pt x="967867" y="33782"/>
                  </a:cubicBezTo>
                  <a:lnTo>
                    <a:pt x="967867" y="16891"/>
                  </a:lnTo>
                  <a:lnTo>
                    <a:pt x="967867" y="33909"/>
                  </a:lnTo>
                  <a:cubicBezTo>
                    <a:pt x="451993" y="33909"/>
                    <a:pt x="33909" y="451993"/>
                    <a:pt x="33909" y="96786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3017520"/>
            <a:ext cx="1426464" cy="1426464"/>
            <a:chOff x="0" y="0"/>
            <a:chExt cx="1901952" cy="19019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901952" cy="1901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8BDF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SAM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29984" y="4663440"/>
            <a:ext cx="4754880" cy="731520"/>
            <a:chOff x="0" y="0"/>
            <a:chExt cx="633984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Serviceable Addressable Market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83680" y="5394960"/>
            <a:ext cx="5029200" cy="1188720"/>
            <a:chOff x="0" y="0"/>
            <a:chExt cx="670560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70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BDF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8,000–12,000 fests/yr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729984" y="6675120"/>
            <a:ext cx="4754880" cy="2377440"/>
            <a:chOff x="0" y="0"/>
            <a:chExt cx="6339840" cy="3169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398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33984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Tier 1 &amp; Tier 2 city colleges with larger budgets and higher digital adoption — our immediate reachable market.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57383" y="2730503"/>
            <a:ext cx="5420363" cy="6700523"/>
            <a:chOff x="0" y="0"/>
            <a:chExt cx="7227151" cy="89340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193281" cy="8900160"/>
            </a:xfrm>
            <a:custGeom>
              <a:avLst/>
              <a:gdLst/>
              <a:ahLst/>
              <a:cxnLst/>
              <a:rect r="r" b="b" t="t" l="l"/>
              <a:pathLst>
                <a:path h="890016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27062" cy="8933942"/>
            </a:xfrm>
            <a:custGeom>
              <a:avLst/>
              <a:gdLst/>
              <a:ahLst/>
              <a:cxnLst/>
              <a:rect r="r" b="b" t="t" l="l"/>
              <a:pathLst>
                <a:path h="893394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917051"/>
                  </a:lnTo>
                  <a:cubicBezTo>
                    <a:pt x="7227062" y="8926449"/>
                    <a:pt x="7219442" y="8933942"/>
                    <a:pt x="7210172" y="8933942"/>
                  </a:cubicBezTo>
                  <a:lnTo>
                    <a:pt x="16891" y="8933942"/>
                  </a:lnTo>
                  <a:cubicBezTo>
                    <a:pt x="7493" y="8933942"/>
                    <a:pt x="0" y="8926322"/>
                    <a:pt x="0" y="8917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17051"/>
                  </a:lnTo>
                  <a:lnTo>
                    <a:pt x="16891" y="8917051"/>
                  </a:lnTo>
                  <a:lnTo>
                    <a:pt x="16891" y="8900160"/>
                  </a:lnTo>
                  <a:lnTo>
                    <a:pt x="7210172" y="8900160"/>
                  </a:lnTo>
                  <a:lnTo>
                    <a:pt x="7210172" y="8917051"/>
                  </a:lnTo>
                  <a:lnTo>
                    <a:pt x="7193280" y="891705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057383" y="2730503"/>
            <a:ext cx="5420363" cy="135131"/>
            <a:chOff x="0" y="0"/>
            <a:chExt cx="7227151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193281" cy="146304"/>
            </a:xfrm>
            <a:custGeom>
              <a:avLst/>
              <a:gdLst/>
              <a:ahLst/>
              <a:cxnLst/>
              <a:rect r="r" b="b" t="t" l="l"/>
              <a:pathLst>
                <a:path h="146304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8F13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7062" cy="180088"/>
            </a:xfrm>
            <a:custGeom>
              <a:avLst/>
              <a:gdLst/>
              <a:ahLst/>
              <a:cxnLst/>
              <a:rect r="r" b="b" t="t" l="l"/>
              <a:pathLst>
                <a:path h="180088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63195"/>
                  </a:lnTo>
                  <a:cubicBezTo>
                    <a:pt x="7227062" y="172593"/>
                    <a:pt x="7219442" y="180086"/>
                    <a:pt x="72101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210172" y="146304"/>
                  </a:lnTo>
                  <a:lnTo>
                    <a:pt x="7210172" y="163195"/>
                  </a:lnTo>
                  <a:lnTo>
                    <a:pt x="7193280" y="163195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069063" y="3004823"/>
            <a:ext cx="1451867" cy="1451867"/>
            <a:chOff x="0" y="0"/>
            <a:chExt cx="1935823" cy="19358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950976"/>
                  </a:moveTo>
                  <a:cubicBezTo>
                    <a:pt x="0" y="425704"/>
                    <a:pt x="425704" y="0"/>
                    <a:pt x="950976" y="0"/>
                  </a:cubicBezTo>
                  <a:cubicBezTo>
                    <a:pt x="1476248" y="0"/>
                    <a:pt x="1901952" y="425704"/>
                    <a:pt x="1901952" y="950976"/>
                  </a:cubicBezTo>
                  <a:cubicBezTo>
                    <a:pt x="1901952" y="1476248"/>
                    <a:pt x="1476248" y="1901952"/>
                    <a:pt x="950976" y="1901952"/>
                  </a:cubicBezTo>
                  <a:cubicBezTo>
                    <a:pt x="425704" y="1901952"/>
                    <a:pt x="0" y="1476248"/>
                    <a:pt x="0" y="950976"/>
                  </a:cubicBezTo>
                  <a:close/>
                </a:path>
              </a:pathLst>
            </a:custGeom>
            <a:solidFill>
              <a:srgbClr val="C8F135">
                <a:alpha val="1961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35734" cy="1935734"/>
            </a:xfrm>
            <a:custGeom>
              <a:avLst/>
              <a:gdLst/>
              <a:ahLst/>
              <a:cxnLst/>
              <a:rect r="r" b="b" t="t" l="l"/>
              <a:pathLst>
                <a:path h="1935734" w="1935734">
                  <a:moveTo>
                    <a:pt x="0" y="967867"/>
                  </a:moveTo>
                  <a:cubicBezTo>
                    <a:pt x="0" y="433324"/>
                    <a:pt x="433324" y="0"/>
                    <a:pt x="967867" y="0"/>
                  </a:cubicBezTo>
                  <a:cubicBezTo>
                    <a:pt x="1502410" y="0"/>
                    <a:pt x="1935734" y="433324"/>
                    <a:pt x="1935734" y="967867"/>
                  </a:cubicBezTo>
                  <a:lnTo>
                    <a:pt x="1918843" y="967867"/>
                  </a:lnTo>
                  <a:lnTo>
                    <a:pt x="1935734" y="967867"/>
                  </a:lnTo>
                  <a:cubicBezTo>
                    <a:pt x="1935734" y="1502410"/>
                    <a:pt x="1502410" y="1935734"/>
                    <a:pt x="967867" y="1935734"/>
                  </a:cubicBezTo>
                  <a:lnTo>
                    <a:pt x="967867" y="1918843"/>
                  </a:lnTo>
                  <a:lnTo>
                    <a:pt x="967867" y="1935734"/>
                  </a:lnTo>
                  <a:cubicBezTo>
                    <a:pt x="433324" y="1935861"/>
                    <a:pt x="0" y="1502410"/>
                    <a:pt x="0" y="967867"/>
                  </a:cubicBezTo>
                  <a:lnTo>
                    <a:pt x="16891" y="967867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0" y="967867"/>
                  </a:lnTo>
                  <a:moveTo>
                    <a:pt x="33909" y="967867"/>
                  </a:moveTo>
                  <a:cubicBezTo>
                    <a:pt x="33909" y="977265"/>
                    <a:pt x="26289" y="984758"/>
                    <a:pt x="17018" y="984758"/>
                  </a:cubicBezTo>
                  <a:cubicBezTo>
                    <a:pt x="7747" y="984758"/>
                    <a:pt x="0" y="977265"/>
                    <a:pt x="0" y="967867"/>
                  </a:cubicBezTo>
                  <a:cubicBezTo>
                    <a:pt x="0" y="958469"/>
                    <a:pt x="7620" y="950976"/>
                    <a:pt x="16891" y="950976"/>
                  </a:cubicBezTo>
                  <a:cubicBezTo>
                    <a:pt x="26162" y="950976"/>
                    <a:pt x="33782" y="958596"/>
                    <a:pt x="33782" y="967867"/>
                  </a:cubicBezTo>
                  <a:cubicBezTo>
                    <a:pt x="33782" y="1483741"/>
                    <a:pt x="451993" y="1901952"/>
                    <a:pt x="967867" y="1901952"/>
                  </a:cubicBezTo>
                  <a:cubicBezTo>
                    <a:pt x="1483741" y="1901952"/>
                    <a:pt x="1901952" y="1483741"/>
                    <a:pt x="1901952" y="967867"/>
                  </a:cubicBezTo>
                  <a:cubicBezTo>
                    <a:pt x="1901952" y="451993"/>
                    <a:pt x="1483741" y="33782"/>
                    <a:pt x="967867" y="33782"/>
                  </a:cubicBezTo>
                  <a:lnTo>
                    <a:pt x="967867" y="16891"/>
                  </a:lnTo>
                  <a:lnTo>
                    <a:pt x="967867" y="33909"/>
                  </a:lnTo>
                  <a:cubicBezTo>
                    <a:pt x="451993" y="33909"/>
                    <a:pt x="33909" y="451993"/>
                    <a:pt x="33909" y="967867"/>
                  </a:cubicBez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081760" y="3017520"/>
            <a:ext cx="1426464" cy="1426464"/>
            <a:chOff x="0" y="0"/>
            <a:chExt cx="1901952" cy="19019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0195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901952" cy="1901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SOM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99264" y="4663440"/>
            <a:ext cx="4754880" cy="731520"/>
            <a:chOff x="0" y="0"/>
            <a:chExt cx="6339840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Serviceable Obtainable Market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52960" y="5394960"/>
            <a:ext cx="5029200" cy="1188720"/>
            <a:chOff x="0" y="0"/>
            <a:chExt cx="6705600" cy="1584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0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70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500–1,000 fests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99264" y="6675120"/>
            <a:ext cx="4754880" cy="2377440"/>
            <a:chOff x="0" y="0"/>
            <a:chExt cx="6339840" cy="3169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398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33984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1–2 target: Maharashtra, Delhi, Karnataka &amp; Tamil Nadu — states with the highest fest culture density.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18823" y="9314183"/>
            <a:ext cx="16850363" cy="720347"/>
            <a:chOff x="0" y="0"/>
            <a:chExt cx="22467151" cy="96046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A106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67063" cy="960376"/>
            </a:xfrm>
            <a:custGeom>
              <a:avLst/>
              <a:gdLst/>
              <a:ahLst/>
              <a:cxnLst/>
              <a:rect r="r" b="b" t="t" l="l"/>
              <a:pathLst>
                <a:path h="96037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943483"/>
                  </a:lnTo>
                  <a:cubicBezTo>
                    <a:pt x="22467063" y="952881"/>
                    <a:pt x="22459443" y="960374"/>
                    <a:pt x="2245017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450171" y="926592"/>
                  </a:lnTo>
                  <a:lnTo>
                    <a:pt x="22450171" y="943483"/>
                  </a:lnTo>
                  <a:lnTo>
                    <a:pt x="22433280" y="94348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05840" y="9363456"/>
            <a:ext cx="16459200" cy="585216"/>
            <a:chOff x="0" y="0"/>
            <a:chExt cx="21945600" cy="78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8016" r="0" b="-49801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1945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  Why Now:  Post-COVID fest revival  ·  UPI makes small-scale ticketing viable  ·  Gen Z organizers are SaaS-native  ·  No dominant competitor exists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731520"/>
            <a:chOff x="0" y="0"/>
            <a:chExt cx="2194560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MODEL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435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Low upfront cost. Earn on every transaction.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456183"/>
            <a:ext cx="8346443" cy="3225803"/>
            <a:chOff x="0" y="0"/>
            <a:chExt cx="11128591" cy="4301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60704" y="2779776"/>
            <a:ext cx="658368" cy="658368"/>
            <a:chOff x="0" y="0"/>
            <a:chExt cx="877824" cy="87782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65376" y="2761488"/>
            <a:ext cx="2743200" cy="402336"/>
            <a:chOff x="0" y="0"/>
            <a:chExt cx="3657600" cy="536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657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B2B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65376" y="3163824"/>
            <a:ext cx="5120640" cy="694944"/>
            <a:chOff x="0" y="0"/>
            <a:chExt cx="6827520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827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Platform Subscription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0704" y="4023360"/>
            <a:ext cx="7680960" cy="512064"/>
            <a:chOff x="0" y="0"/>
            <a:chExt cx="1024128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University License: ₹14,999 / year (25 seats)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0704" y="4572000"/>
            <a:ext cx="7680960" cy="512064"/>
            <a:chOff x="0" y="0"/>
            <a:chExt cx="1024128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Semester Plan: ₹4,999 / 3 months (7 seats)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0704" y="5120640"/>
            <a:ext cx="7680960" cy="512064"/>
            <a:chOff x="0" y="0"/>
            <a:chExt cx="1024128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 Committee Direct: ₹1,999–₹3,499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97063" y="2456183"/>
            <a:ext cx="8346443" cy="3225803"/>
            <a:chOff x="0" y="0"/>
            <a:chExt cx="11128591" cy="4301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38944" y="2779776"/>
            <a:ext cx="658368" cy="658368"/>
            <a:chOff x="0" y="0"/>
            <a:chExt cx="877824" cy="877824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643616" y="2761488"/>
            <a:ext cx="2743200" cy="402336"/>
            <a:chOff x="0" y="0"/>
            <a:chExt cx="3657600" cy="5364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3657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TRANSACTION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43616" y="3163824"/>
            <a:ext cx="5120640" cy="694944"/>
            <a:chOff x="0" y="0"/>
            <a:chExt cx="6827520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827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Ticketing Commission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838944" y="4023360"/>
            <a:ext cx="7680960" cy="512064"/>
            <a:chOff x="0" y="0"/>
            <a:chExt cx="1024128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5–8% commission per ticket sold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38944" y="4572000"/>
            <a:ext cx="7680960" cy="512064"/>
            <a:chOff x="0" y="0"/>
            <a:chExt cx="1024128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ticket ₹400 × 500 tickets/fest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38944" y="5120640"/>
            <a:ext cx="7680960" cy="512064"/>
            <a:chOff x="0" y="0"/>
            <a:chExt cx="1024128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~₹10,000 per fest at scale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18823" y="6022343"/>
            <a:ext cx="8346443" cy="3225803"/>
            <a:chOff x="0" y="0"/>
            <a:chExt cx="11128591" cy="4301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60704" y="6345936"/>
            <a:ext cx="658368" cy="658368"/>
            <a:chOff x="0" y="0"/>
            <a:chExt cx="877824" cy="877824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865376" y="6327648"/>
            <a:ext cx="2743200" cy="402336"/>
            <a:chOff x="0" y="0"/>
            <a:chExt cx="365760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657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F5F0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TRANSACTION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65376" y="6729984"/>
            <a:ext cx="5120640" cy="694944"/>
            <a:chOff x="0" y="0"/>
            <a:chExt cx="682752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827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Vendor Deal Commission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0704" y="7589520"/>
            <a:ext cx="7680960" cy="512064"/>
            <a:chOff x="0" y="0"/>
            <a:chExt cx="1024128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8–12% of closed vendor deal value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0704" y="8138160"/>
            <a:ext cx="7680960" cy="512064"/>
            <a:chOff x="0" y="0"/>
            <a:chExt cx="102412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deal ₹30,000 × 3 vendors/fest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0704" y="8686800"/>
            <a:ext cx="7680960" cy="512064"/>
            <a:chOff x="0" y="0"/>
            <a:chExt cx="102412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~₹9,000 per fest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97063" y="6022343"/>
            <a:ext cx="8346443" cy="3225803"/>
            <a:chOff x="0" y="0"/>
            <a:chExt cx="11128591" cy="43010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0947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128501" cy="4300982"/>
            </a:xfrm>
            <a:custGeom>
              <a:avLst/>
              <a:gdLst/>
              <a:ahLst/>
              <a:cxnLst/>
              <a:rect r="r" b="b" t="t" l="l"/>
              <a:pathLst>
                <a:path h="43009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284091"/>
                  </a:lnTo>
                  <a:cubicBezTo>
                    <a:pt x="11128501" y="4293489"/>
                    <a:pt x="11120882" y="4300982"/>
                    <a:pt x="1111161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1111611" y="4267200"/>
                  </a:lnTo>
                  <a:lnTo>
                    <a:pt x="11111611" y="4284091"/>
                  </a:lnTo>
                  <a:lnTo>
                    <a:pt x="11094720" y="42840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838944" y="6345936"/>
            <a:ext cx="658368" cy="658368"/>
            <a:chOff x="0" y="0"/>
            <a:chExt cx="877824" cy="877824"/>
          </a:xfrm>
        </p:grpSpPr>
        <p:sp>
          <p:nvSpPr>
            <p:cNvPr name="Freeform 72" id="7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643616" y="6327648"/>
            <a:ext cx="2743200" cy="402336"/>
            <a:chOff x="0" y="0"/>
            <a:chExt cx="3657600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657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 spc="4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43616" y="6729984"/>
            <a:ext cx="5120640" cy="694944"/>
            <a:chOff x="0" y="0"/>
            <a:chExt cx="6827520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6827520" cy="926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Sponsor Connect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38944" y="7589520"/>
            <a:ext cx="7680960" cy="512064"/>
            <a:chOff x="0" y="0"/>
            <a:chExt cx="1024128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5–10% of sponsorship deal value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838944" y="8138160"/>
            <a:ext cx="7680960" cy="512064"/>
            <a:chOff x="0" y="0"/>
            <a:chExt cx="1024128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deal ₹2L per fest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838944" y="8686800"/>
            <a:ext cx="7680960" cy="512064"/>
            <a:chOff x="0" y="0"/>
            <a:chExt cx="1024128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10241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Unlocked in Year 2 once supply-side is live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731520"/>
            <a:chOff x="0" y="0"/>
            <a:chExt cx="2194560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PROJECTION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43584"/>
            <a:ext cx="16824960" cy="950976"/>
            <a:chOff x="0" y="0"/>
            <a:chExt cx="2243328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735" r="0" b="-2947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433280" cy="1287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Conservative Year 1 — proving the model, not scaling it.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4400" y="2468880"/>
          <a:ext cx="16459200" cy="4114800"/>
        </p:xfrm>
        <a:graphic>
          <a:graphicData uri="http://schemas.openxmlformats.org/drawingml/2006/table">
            <a:tbl>
              <a:tblPr/>
              <a:tblGrid>
                <a:gridCol w="6396586"/>
                <a:gridCol w="6396586"/>
                <a:gridCol w="3666028"/>
              </a:tblGrid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Revenue Stream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Assumption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Year 1 Revenue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University Licenses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DDDDD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universities × ₹14,999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₹75,000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Fest Committee Direct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DDDDD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 fests × ₹2,500 avg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₹1,00,000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Ticketing Commission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DDDDD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 fests × ₹4,000 avg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₹2,40,000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Vendor Commission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DDDDD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 fests × ₹5,000 avg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₹2,00,000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~₹6,15,000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914400" y="7406640"/>
            <a:ext cx="16459200" cy="548640"/>
            <a:chOff x="0" y="0"/>
            <a:chExt cx="219456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DDDDD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3-YEAR GROWTH TRAJECTORY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138160"/>
            <a:ext cx="1554480" cy="548640"/>
            <a:chOff x="0" y="0"/>
            <a:chExt cx="20726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72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F0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547623" y="8216903"/>
            <a:ext cx="2768603" cy="391163"/>
            <a:chOff x="0" y="0"/>
            <a:chExt cx="3691471" cy="5215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91382" cy="521464"/>
            </a:xfrm>
            <a:custGeom>
              <a:avLst/>
              <a:gdLst/>
              <a:ahLst/>
              <a:cxnLst/>
              <a:rect r="r" b="b" t="t" l="l"/>
              <a:pathLst>
                <a:path h="52146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504571"/>
                  </a:lnTo>
                  <a:cubicBezTo>
                    <a:pt x="3691382" y="513969"/>
                    <a:pt x="3683762" y="521462"/>
                    <a:pt x="367449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674491" y="487680"/>
                  </a:lnTo>
                  <a:lnTo>
                    <a:pt x="3674491" y="504571"/>
                  </a:lnTo>
                  <a:lnTo>
                    <a:pt x="3657600" y="50457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743200" y="8138160"/>
            <a:ext cx="2377440" cy="555129"/>
            <a:chOff x="0" y="0"/>
            <a:chExt cx="3169920" cy="740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69920" cy="740172"/>
            </a:xfrm>
            <a:custGeom>
              <a:avLst/>
              <a:gdLst/>
              <a:ahLst/>
              <a:cxnLst/>
              <a:rect r="r" b="b" t="t" l="l"/>
              <a:pathLst>
                <a:path h="74017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40172"/>
                  </a:lnTo>
                  <a:lnTo>
                    <a:pt x="0" y="7401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032" r="0" b="-328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169920" cy="7687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D0D0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Pilot · 1–2 states · 40–60 fests · Build trust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86400" y="8138160"/>
            <a:ext cx="2194560" cy="548640"/>
            <a:chOff x="0" y="0"/>
            <a:chExt cx="29260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7C3AE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~₹6 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8778240"/>
            <a:ext cx="1554480" cy="548640"/>
            <a:chOff x="0" y="0"/>
            <a:chExt cx="20726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72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F0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 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47623" y="8856983"/>
            <a:ext cx="8255003" cy="391163"/>
            <a:chOff x="0" y="0"/>
            <a:chExt cx="11006671" cy="5215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972800" cy="487680"/>
            </a:xfrm>
            <a:custGeom>
              <a:avLst/>
              <a:gdLst/>
              <a:ahLst/>
              <a:cxnLst/>
              <a:rect r="r" b="b" t="t" l="l"/>
              <a:pathLst>
                <a:path h="4876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38BDF8">
                <a:alpha val="63922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06582" cy="521464"/>
            </a:xfrm>
            <a:custGeom>
              <a:avLst/>
              <a:gdLst/>
              <a:ahLst/>
              <a:cxnLst/>
              <a:rect r="r" b="b" t="t" l="l"/>
              <a:pathLst>
                <a:path h="5214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04571"/>
                  </a:lnTo>
                  <a:cubicBezTo>
                    <a:pt x="11006582" y="513969"/>
                    <a:pt x="10998962" y="521462"/>
                    <a:pt x="10989691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0989691" y="487680"/>
                  </a:lnTo>
                  <a:lnTo>
                    <a:pt x="10989691" y="504571"/>
                  </a:lnTo>
                  <a:lnTo>
                    <a:pt x="10972800" y="5045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743200" y="8778240"/>
            <a:ext cx="7863840" cy="548640"/>
            <a:chOff x="0" y="0"/>
            <a:chExt cx="104851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485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· 5 states · 300+ fests · University deals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2800" y="8778240"/>
            <a:ext cx="2194560" cy="548640"/>
            <a:chOff x="0" y="0"/>
            <a:chExt cx="29260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8BDF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~₹45 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9418320"/>
            <a:ext cx="1554480" cy="548640"/>
            <a:chOff x="0" y="0"/>
            <a:chExt cx="20726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7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72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F0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Year 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547623" y="9497063"/>
            <a:ext cx="16484603" cy="391163"/>
            <a:chOff x="0" y="0"/>
            <a:chExt cx="21979471" cy="5215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1945599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C8F135">
                <a:alpha val="63922"/>
              </a:srgbClr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79382" cy="521464"/>
            </a:xfrm>
            <a:custGeom>
              <a:avLst/>
              <a:gdLst/>
              <a:ahLst/>
              <a:cxnLst/>
              <a:rect r="r" b="b" t="t" l="l"/>
              <a:pathLst>
                <a:path h="521464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504571"/>
                  </a:lnTo>
                  <a:cubicBezTo>
                    <a:pt x="21979382" y="513969"/>
                    <a:pt x="21971763" y="521462"/>
                    <a:pt x="21962490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21962490" y="487680"/>
                  </a:lnTo>
                  <a:lnTo>
                    <a:pt x="21962490" y="504571"/>
                  </a:lnTo>
                  <a:lnTo>
                    <a:pt x="21945600" y="50457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743200" y="9418320"/>
            <a:ext cx="16093440" cy="548640"/>
            <a:chOff x="0" y="0"/>
            <a:chExt cx="214579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45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Pan-India · Vendor marketplace · Sponsor connect live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9202400" y="9418320"/>
            <a:ext cx="2194560" cy="548640"/>
            <a:chOff x="0" y="0"/>
            <a:chExt cx="292608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~₹1.8 Cr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731520"/>
            <a:chOff x="0" y="0"/>
            <a:chExt cx="2194560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FF4D6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COMPETITOR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435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 one owns this space. We will.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31520" y="2468880"/>
          <a:ext cx="16764000" cy="6858000"/>
        </p:xfrm>
        <a:graphic>
          <a:graphicData uri="http://schemas.openxmlformats.org/drawingml/2006/table">
            <a:tbl>
              <a:tblPr/>
              <a:tblGrid>
                <a:gridCol w="3997878"/>
                <a:gridCol w="2553224"/>
                <a:gridCol w="2733806"/>
                <a:gridCol w="2553224"/>
                <a:gridCol w="2733806"/>
                <a:gridCol w="2192061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Capability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BookMyShow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District (Zomato)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AllEvents.in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5F0E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WhatsApp+Sheets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FestFlow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D40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Ticketing &amp; Registration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C8F13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C8F13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AA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Budget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AA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Vendor Sourcing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AA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Sponsorship Pipeline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Team &amp; Volunteer Mgmt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AA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Student Portal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C8F13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C8F13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Vendor Portal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5F0E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College-Specific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FF4D6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C8F1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82E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731520" y="9692640"/>
            <a:ext cx="9144000" cy="457200"/>
            <a:chOff x="0" y="0"/>
            <a:chExt cx="121920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Full  ·  ~ Partial  ·  ✗ None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731520"/>
            <a:chOff x="0" y="0"/>
            <a:chExt cx="2194560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— v1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435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Three portals. One unified platform.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547623"/>
            <a:ext cx="5511803" cy="7157723"/>
            <a:chOff x="0" y="0"/>
            <a:chExt cx="7349071" cy="95436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8982" cy="9543542"/>
            </a:xfrm>
            <a:custGeom>
              <a:avLst/>
              <a:gdLst/>
              <a:ahLst/>
              <a:cxnLst/>
              <a:rect r="r" b="b" t="t" l="l"/>
              <a:pathLst>
                <a:path h="9543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526651"/>
                  </a:lnTo>
                  <a:cubicBezTo>
                    <a:pt x="7348982" y="9536049"/>
                    <a:pt x="7341362" y="9543542"/>
                    <a:pt x="733209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7332091" y="9509760"/>
                  </a:lnTo>
                  <a:lnTo>
                    <a:pt x="7332091" y="9526651"/>
                  </a:lnTo>
                  <a:lnTo>
                    <a:pt x="7315200" y="9526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5252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2547623"/>
            <a:ext cx="5511803" cy="135131"/>
            <a:chOff x="0" y="0"/>
            <a:chExt cx="7349071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8F1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7824" y="2834640"/>
            <a:ext cx="4937760" cy="694944"/>
            <a:chOff x="0" y="0"/>
            <a:chExt cx="658368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5836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🎪 ORGANIZER PORTAL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5127" y="3608327"/>
            <a:ext cx="4871723" cy="2494283"/>
            <a:chOff x="0" y="0"/>
            <a:chExt cx="6495631" cy="33257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64617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/>
              <a:stretch>
                <a:fillRect l="-4628" t="0" r="-4628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955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3308731"/>
                  </a:lnTo>
                  <a:cubicBezTo>
                    <a:pt x="6495542" y="3318129"/>
                    <a:pt x="6487922" y="3325622"/>
                    <a:pt x="64786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6478651" y="3291840"/>
                  </a:lnTo>
                  <a:lnTo>
                    <a:pt x="6478651" y="3308731"/>
                  </a:lnTo>
                  <a:lnTo>
                    <a:pt x="6461760" y="3308731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77824" y="6254496"/>
            <a:ext cx="4937760" cy="585216"/>
            <a:chOff x="0" y="0"/>
            <a:chExt cx="658368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with live fest stats &amp; alerts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7824" y="6876288"/>
            <a:ext cx="4937760" cy="585216"/>
            <a:chOff x="0" y="0"/>
            <a:chExt cx="658368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 tracker with expense categories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7824" y="7498080"/>
            <a:ext cx="4937760" cy="585216"/>
            <a:chOff x="0" y="0"/>
            <a:chExt cx="658368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Vendor browsing &amp; deal management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7824" y="8119872"/>
            <a:ext cx="4937760" cy="585216"/>
            <a:chOff x="0" y="0"/>
            <a:chExt cx="658368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Sponsorship pipeline with tier tracking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7824" y="8741664"/>
            <a:ext cx="4937760" cy="585216"/>
            <a:chOff x="0" y="0"/>
            <a:chExt cx="658368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&amp; volunteer management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96663" y="2547623"/>
            <a:ext cx="5511803" cy="7157723"/>
            <a:chOff x="0" y="0"/>
            <a:chExt cx="7349071" cy="95436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315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8982" cy="9543542"/>
            </a:xfrm>
            <a:custGeom>
              <a:avLst/>
              <a:gdLst/>
              <a:ahLst/>
              <a:cxnLst/>
              <a:rect r="r" b="b" t="t" l="l"/>
              <a:pathLst>
                <a:path h="9543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526651"/>
                  </a:lnTo>
                  <a:cubicBezTo>
                    <a:pt x="7348982" y="9536049"/>
                    <a:pt x="7341362" y="9543542"/>
                    <a:pt x="733209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7332091" y="9509760"/>
                  </a:lnTo>
                  <a:lnTo>
                    <a:pt x="7332091" y="9526651"/>
                  </a:lnTo>
                  <a:lnTo>
                    <a:pt x="7315200" y="9526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5252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96663" y="2547623"/>
            <a:ext cx="5511803" cy="135131"/>
            <a:chOff x="0" y="0"/>
            <a:chExt cx="7349071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638544" y="2834640"/>
            <a:ext cx="4937760" cy="694944"/>
            <a:chOff x="0" y="0"/>
            <a:chExt cx="65836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5836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8BDF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🎓 STUDENT PORTAL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25847" y="3608327"/>
            <a:ext cx="4871723" cy="2494283"/>
            <a:chOff x="0" y="0"/>
            <a:chExt cx="6495631" cy="33257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4617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/>
              <a:stretch>
                <a:fillRect l="-9614" t="0" r="-9614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955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3308731"/>
                  </a:lnTo>
                  <a:cubicBezTo>
                    <a:pt x="6495542" y="3318129"/>
                    <a:pt x="6487922" y="3325622"/>
                    <a:pt x="64786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6478651" y="3291840"/>
                  </a:lnTo>
                  <a:lnTo>
                    <a:pt x="6478651" y="3308731"/>
                  </a:lnTo>
                  <a:lnTo>
                    <a:pt x="6461760" y="3308731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638544" y="6254496"/>
            <a:ext cx="4937760" cy="585216"/>
            <a:chOff x="0" y="0"/>
            <a:chExt cx="6583680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 discovery &amp; event schedule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38544" y="6876288"/>
            <a:ext cx="4937760" cy="585216"/>
            <a:chOff x="0" y="0"/>
            <a:chExt cx="658368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 selection with tier pricing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38544" y="7498080"/>
            <a:ext cx="4937760" cy="585216"/>
            <a:chOff x="0" y="0"/>
            <a:chExt cx="658368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Volunteer invite accept / decline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38544" y="8119872"/>
            <a:ext cx="4937760" cy="585216"/>
            <a:chOff x="0" y="0"/>
            <a:chExt cx="658368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account &amp; ticket history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057383" y="2547623"/>
            <a:ext cx="5511803" cy="7157723"/>
            <a:chOff x="0" y="0"/>
            <a:chExt cx="7349071" cy="95436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315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48982" cy="9543542"/>
            </a:xfrm>
            <a:custGeom>
              <a:avLst/>
              <a:gdLst/>
              <a:ahLst/>
              <a:cxnLst/>
              <a:rect r="r" b="b" t="t" l="l"/>
              <a:pathLst>
                <a:path h="95435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526651"/>
                  </a:lnTo>
                  <a:cubicBezTo>
                    <a:pt x="7348982" y="9536049"/>
                    <a:pt x="7341362" y="9543542"/>
                    <a:pt x="733209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7332091" y="9509760"/>
                  </a:lnTo>
                  <a:lnTo>
                    <a:pt x="7332091" y="9526651"/>
                  </a:lnTo>
                  <a:lnTo>
                    <a:pt x="7315200" y="95266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5252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057383" y="2547623"/>
            <a:ext cx="5511803" cy="135131"/>
            <a:chOff x="0" y="0"/>
            <a:chExt cx="7349071" cy="1801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F0E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F0E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399264" y="2834640"/>
            <a:ext cx="4937760" cy="694944"/>
            <a:chOff x="0" y="0"/>
            <a:chExt cx="658368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58368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💼 VENDOR PORTAL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86567" y="3608327"/>
            <a:ext cx="4871723" cy="2494283"/>
            <a:chOff x="0" y="0"/>
            <a:chExt cx="6495631" cy="33257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64617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5"/>
              <a:stretch>
                <a:fillRect l="-13087" t="0" r="-13087" b="0"/>
              </a:stretch>
            </a:blip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955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649554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3308731"/>
                  </a:lnTo>
                  <a:cubicBezTo>
                    <a:pt x="6495542" y="3318129"/>
                    <a:pt x="6487922" y="3325622"/>
                    <a:pt x="64786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6478651" y="3291840"/>
                  </a:lnTo>
                  <a:lnTo>
                    <a:pt x="6478651" y="3308731"/>
                  </a:lnTo>
                  <a:lnTo>
                    <a:pt x="6461760" y="3308731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399264" y="6254496"/>
            <a:ext cx="4937760" cy="585216"/>
            <a:chOff x="0" y="0"/>
            <a:chExt cx="658368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Incoming offer cards with deal terms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99264" y="6876288"/>
            <a:ext cx="4937760" cy="585216"/>
            <a:chOff x="0" y="0"/>
            <a:chExt cx="6583680" cy="78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 / Counter / Decline workflow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99264" y="7498080"/>
            <a:ext cx="4937760" cy="585216"/>
            <a:chOff x="0" y="0"/>
            <a:chExt cx="658368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Perk package visibility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99264" y="8119872"/>
            <a:ext cx="4937760" cy="585216"/>
            <a:chOff x="0" y="0"/>
            <a:chExt cx="6583680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5836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Booking status dashboard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1520" y="9692640"/>
            <a:ext cx="16459200" cy="457200"/>
            <a:chOff x="0" y="0"/>
            <a:chExt cx="2194560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Live interactive prototype available at request.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731520"/>
            <a:chOff x="0" y="0"/>
            <a:chExt cx="2194560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43584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FestFlow. Why Now.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730503"/>
            <a:ext cx="8255003" cy="3134363"/>
            <a:chOff x="0" y="0"/>
            <a:chExt cx="11006671" cy="41791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162171"/>
                  </a:lnTo>
                  <a:cubicBezTo>
                    <a:pt x="11006582" y="4171569"/>
                    <a:pt x="10998962" y="4179062"/>
                    <a:pt x="109896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10989691" y="4145280"/>
                  </a:lnTo>
                  <a:lnTo>
                    <a:pt x="10989691" y="4162171"/>
                  </a:lnTo>
                  <a:lnTo>
                    <a:pt x="10972800" y="4162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7280" y="3072384"/>
            <a:ext cx="694944" cy="694944"/>
            <a:chOff x="0" y="0"/>
            <a:chExt cx="926592" cy="92659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11680" y="3072384"/>
            <a:ext cx="6583680" cy="768096"/>
            <a:chOff x="0" y="0"/>
            <a:chExt cx="8778240" cy="10241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4D6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Clear Problem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4023360"/>
            <a:ext cx="7498080" cy="1554480"/>
            <a:chOff x="0" y="0"/>
            <a:chExt cx="9997440" cy="2072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974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86" r="0" b="-439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9974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4,300+ college fests run on WhatsApp and spreadsheets. The pain is real, widespread, and unaddressed.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97063" y="2730503"/>
            <a:ext cx="8255003" cy="3134363"/>
            <a:chOff x="0" y="0"/>
            <a:chExt cx="11006671" cy="41791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09728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065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162171"/>
                  </a:lnTo>
                  <a:cubicBezTo>
                    <a:pt x="11006582" y="4171569"/>
                    <a:pt x="10998962" y="4179062"/>
                    <a:pt x="109896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10989691" y="4145280"/>
                  </a:lnTo>
                  <a:lnTo>
                    <a:pt x="10989691" y="4162171"/>
                  </a:lnTo>
                  <a:lnTo>
                    <a:pt x="10972800" y="4162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3072384"/>
            <a:ext cx="694944" cy="694944"/>
            <a:chOff x="0" y="0"/>
            <a:chExt cx="926592" cy="92659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789920" y="3072384"/>
            <a:ext cx="6583680" cy="768096"/>
            <a:chOff x="0" y="0"/>
            <a:chExt cx="8778240" cy="10241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Full Solution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75520" y="4023360"/>
            <a:ext cx="7498080" cy="1554480"/>
            <a:chOff x="0" y="0"/>
            <a:chExt cx="9997440" cy="2072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86" r="0" b="-4398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9974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FestFlow is the only platform that covers the entire fest lifecycle — budgeting, vendors, tickets, teams, and sponsors.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8823" y="6205223"/>
            <a:ext cx="8255003" cy="3134363"/>
            <a:chOff x="0" y="0"/>
            <a:chExt cx="11006671" cy="41791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09728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065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162171"/>
                  </a:lnTo>
                  <a:cubicBezTo>
                    <a:pt x="11006582" y="4171569"/>
                    <a:pt x="10998962" y="4179062"/>
                    <a:pt x="109896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10989691" y="4145280"/>
                  </a:lnTo>
                  <a:lnTo>
                    <a:pt x="10989691" y="4162171"/>
                  </a:lnTo>
                  <a:lnTo>
                    <a:pt x="10972800" y="4162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6547104"/>
            <a:ext cx="694944" cy="694944"/>
            <a:chOff x="0" y="0"/>
            <a:chExt cx="926592" cy="92659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011680" y="6547104"/>
            <a:ext cx="6583680" cy="768096"/>
            <a:chOff x="0" y="0"/>
            <a:chExt cx="877824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7C3AE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Viable Business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7280" y="7498080"/>
            <a:ext cx="7498080" cy="1554480"/>
            <a:chOff x="0" y="0"/>
            <a:chExt cx="999744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86" r="0" b="-439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9974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Multiple revenue streams: subscription + ticketing + vendor commissions. Year 1 target: ~₹6 Lakhs.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97063" y="6205223"/>
            <a:ext cx="8255003" cy="3134363"/>
            <a:chOff x="0" y="0"/>
            <a:chExt cx="11006671" cy="4179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065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4162171"/>
                  </a:lnTo>
                  <a:cubicBezTo>
                    <a:pt x="11006582" y="4171569"/>
                    <a:pt x="10998962" y="4179062"/>
                    <a:pt x="109896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10989691" y="4145280"/>
                  </a:lnTo>
                  <a:lnTo>
                    <a:pt x="10989691" y="4162171"/>
                  </a:lnTo>
                  <a:lnTo>
                    <a:pt x="10972800" y="4162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75520" y="6547104"/>
            <a:ext cx="694944" cy="694944"/>
            <a:chOff x="0" y="0"/>
            <a:chExt cx="926592" cy="926592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89920" y="6547104"/>
            <a:ext cx="6583680" cy="768096"/>
            <a:chOff x="0" y="0"/>
            <a:chExt cx="8778240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877824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8BDF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Ready to Launch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875520" y="7498080"/>
            <a:ext cx="7498080" cy="1554480"/>
            <a:chOff x="0" y="0"/>
            <a:chExt cx="9997440" cy="2072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86" r="0" b="-4398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99744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Prototype v7 is complete. Three portals — Organizer, Student, Vendor — fully functional and demo-ready.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731520"/>
            <a:chOff x="0" y="0"/>
            <a:chExt cx="2194560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2435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roadmap beyond v1.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639063"/>
            <a:ext cx="5511803" cy="7066283"/>
            <a:chOff x="0" y="0"/>
            <a:chExt cx="7349071" cy="9421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8982" cy="9421622"/>
            </a:xfrm>
            <a:custGeom>
              <a:avLst/>
              <a:gdLst/>
              <a:ahLst/>
              <a:cxnLst/>
              <a:rect r="r" b="b" t="t" l="l"/>
              <a:pathLst>
                <a:path h="94216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404731"/>
                  </a:lnTo>
                  <a:cubicBezTo>
                    <a:pt x="7348982" y="9414129"/>
                    <a:pt x="7341362" y="9421622"/>
                    <a:pt x="7332091" y="9421622"/>
                  </a:cubicBezTo>
                  <a:lnTo>
                    <a:pt x="16891" y="9421622"/>
                  </a:lnTo>
                  <a:cubicBezTo>
                    <a:pt x="7493" y="9421622"/>
                    <a:pt x="0" y="9414002"/>
                    <a:pt x="0" y="9404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04731"/>
                  </a:lnTo>
                  <a:lnTo>
                    <a:pt x="16891" y="9404731"/>
                  </a:lnTo>
                  <a:lnTo>
                    <a:pt x="16891" y="9387840"/>
                  </a:lnTo>
                  <a:lnTo>
                    <a:pt x="7332091" y="9387840"/>
                  </a:lnTo>
                  <a:lnTo>
                    <a:pt x="7332091" y="9404731"/>
                  </a:lnTo>
                  <a:lnTo>
                    <a:pt x="7315200" y="9404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2639063"/>
            <a:ext cx="5511803" cy="135131"/>
            <a:chOff x="0" y="0"/>
            <a:chExt cx="7349071" cy="180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8F1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1471" y="2956303"/>
            <a:ext cx="2024377" cy="561337"/>
            <a:chOff x="0" y="0"/>
            <a:chExt cx="2699169" cy="7484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509" y="8509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C8F135">
                <a:alpha val="392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99258" cy="748538"/>
            </a:xfrm>
            <a:custGeom>
              <a:avLst/>
              <a:gdLst/>
              <a:ahLst/>
              <a:cxnLst/>
              <a:rect r="r" b="b" t="t" l="l"/>
              <a:pathLst>
                <a:path h="748538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40029"/>
                  </a:lnTo>
                  <a:cubicBezTo>
                    <a:pt x="2699258" y="744728"/>
                    <a:pt x="2695448" y="748538"/>
                    <a:pt x="26907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690749" y="731520"/>
                  </a:lnTo>
                  <a:lnTo>
                    <a:pt x="2690749" y="740029"/>
                  </a:lnTo>
                  <a:lnTo>
                    <a:pt x="2682240" y="740029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8F13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7824" y="2962656"/>
            <a:ext cx="2011680" cy="548640"/>
            <a:chOff x="0" y="0"/>
            <a:chExt cx="26822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F1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72384" y="2999232"/>
            <a:ext cx="2651760" cy="475488"/>
            <a:chOff x="0" y="0"/>
            <a:chExt cx="3535680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35680" cy="633984"/>
            </a:xfrm>
            <a:custGeom>
              <a:avLst/>
              <a:gdLst/>
              <a:ahLst/>
              <a:cxnLst/>
              <a:rect r="r" b="b" t="t" l="l"/>
              <a:pathLst>
                <a:path h="63398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35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0–6 Months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7824" y="3803904"/>
            <a:ext cx="4937760" cy="1243584"/>
            <a:chOff x="0" y="0"/>
            <a:chExt cx="6583680" cy="16581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Launch in Maharashtra &amp; Karnataka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7824" y="5212080"/>
            <a:ext cx="4937760" cy="1243584"/>
            <a:chOff x="0" y="0"/>
            <a:chExt cx="6583680" cy="16581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Onboard 40–60 fests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7824" y="6620256"/>
            <a:ext cx="4937760" cy="1243584"/>
            <a:chOff x="0" y="0"/>
            <a:chExt cx="6583680" cy="16581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University license pilots (5 institutions)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7824" y="8028432"/>
            <a:ext cx="4937760" cy="1243584"/>
            <a:chOff x="0" y="0"/>
            <a:chExt cx="6583680" cy="16581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Refine vendor commission flow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296663" y="2639063"/>
            <a:ext cx="5511803" cy="7066283"/>
            <a:chOff x="0" y="0"/>
            <a:chExt cx="7349071" cy="94217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3152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8982" cy="9421622"/>
            </a:xfrm>
            <a:custGeom>
              <a:avLst/>
              <a:gdLst/>
              <a:ahLst/>
              <a:cxnLst/>
              <a:rect r="r" b="b" t="t" l="l"/>
              <a:pathLst>
                <a:path h="94216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404731"/>
                  </a:lnTo>
                  <a:cubicBezTo>
                    <a:pt x="7348982" y="9414129"/>
                    <a:pt x="7341362" y="9421622"/>
                    <a:pt x="7332091" y="9421622"/>
                  </a:cubicBezTo>
                  <a:lnTo>
                    <a:pt x="16891" y="9421622"/>
                  </a:lnTo>
                  <a:cubicBezTo>
                    <a:pt x="7493" y="9421622"/>
                    <a:pt x="0" y="9414002"/>
                    <a:pt x="0" y="9404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04731"/>
                  </a:lnTo>
                  <a:lnTo>
                    <a:pt x="16891" y="9404731"/>
                  </a:lnTo>
                  <a:lnTo>
                    <a:pt x="16891" y="9387840"/>
                  </a:lnTo>
                  <a:lnTo>
                    <a:pt x="7332091" y="9387840"/>
                  </a:lnTo>
                  <a:lnTo>
                    <a:pt x="7332091" y="9404731"/>
                  </a:lnTo>
                  <a:lnTo>
                    <a:pt x="7315200" y="9404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96663" y="2639063"/>
            <a:ext cx="5511803" cy="135131"/>
            <a:chOff x="0" y="0"/>
            <a:chExt cx="7349071" cy="1801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632191" y="2956303"/>
            <a:ext cx="2024377" cy="561337"/>
            <a:chOff x="0" y="0"/>
            <a:chExt cx="2699169" cy="74844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8BDF8">
                <a:alpha val="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99258" cy="748538"/>
            </a:xfrm>
            <a:custGeom>
              <a:avLst/>
              <a:gdLst/>
              <a:ahLst/>
              <a:cxnLst/>
              <a:rect r="r" b="b" t="t" l="l"/>
              <a:pathLst>
                <a:path h="748538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40029"/>
                  </a:lnTo>
                  <a:cubicBezTo>
                    <a:pt x="2699258" y="744728"/>
                    <a:pt x="2695448" y="748538"/>
                    <a:pt x="26907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690749" y="731520"/>
                  </a:lnTo>
                  <a:lnTo>
                    <a:pt x="2690749" y="740029"/>
                  </a:lnTo>
                  <a:lnTo>
                    <a:pt x="2682240" y="740029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38544" y="2962656"/>
            <a:ext cx="2011680" cy="548640"/>
            <a:chOff x="0" y="0"/>
            <a:chExt cx="26822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33104" y="2999232"/>
            <a:ext cx="2651760" cy="475488"/>
            <a:chOff x="0" y="0"/>
            <a:chExt cx="353568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35680" cy="633984"/>
            </a:xfrm>
            <a:custGeom>
              <a:avLst/>
              <a:gdLst/>
              <a:ahLst/>
              <a:cxnLst/>
              <a:rect r="r" b="b" t="t" l="l"/>
              <a:pathLst>
                <a:path h="63398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535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6–18 Months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38544" y="3803904"/>
            <a:ext cx="4937760" cy="1243584"/>
            <a:chOff x="0" y="0"/>
            <a:chExt cx="6583680" cy="16581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to Delhi, Tamil Nadu, Telangana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38544" y="5212080"/>
            <a:ext cx="4937760" cy="1243584"/>
            <a:chOff x="0" y="0"/>
            <a:chExt cx="6583680" cy="16581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Unlock Sponsor Connect marketplace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38544" y="6620256"/>
            <a:ext cx="4937760" cy="1243584"/>
            <a:chOff x="0" y="0"/>
            <a:chExt cx="6583680" cy="16581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 for students (Android first)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638544" y="8028432"/>
            <a:ext cx="4937760" cy="1243584"/>
            <a:chOff x="0" y="0"/>
            <a:chExt cx="6583680" cy="16581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Analytics dashboard for organizers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57383" y="2639063"/>
            <a:ext cx="5511803" cy="7066283"/>
            <a:chOff x="0" y="0"/>
            <a:chExt cx="7349071" cy="94217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3152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48982" cy="9421622"/>
            </a:xfrm>
            <a:custGeom>
              <a:avLst/>
              <a:gdLst/>
              <a:ahLst/>
              <a:cxnLst/>
              <a:rect r="r" b="b" t="t" l="l"/>
              <a:pathLst>
                <a:path h="94216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404731"/>
                  </a:lnTo>
                  <a:cubicBezTo>
                    <a:pt x="7348982" y="9414129"/>
                    <a:pt x="7341362" y="9421622"/>
                    <a:pt x="7332091" y="9421622"/>
                  </a:cubicBezTo>
                  <a:lnTo>
                    <a:pt x="16891" y="9421622"/>
                  </a:lnTo>
                  <a:cubicBezTo>
                    <a:pt x="7493" y="9421622"/>
                    <a:pt x="0" y="9414002"/>
                    <a:pt x="0" y="9404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04731"/>
                  </a:lnTo>
                  <a:lnTo>
                    <a:pt x="16891" y="9404731"/>
                  </a:lnTo>
                  <a:lnTo>
                    <a:pt x="16891" y="9387840"/>
                  </a:lnTo>
                  <a:lnTo>
                    <a:pt x="7332091" y="9387840"/>
                  </a:lnTo>
                  <a:lnTo>
                    <a:pt x="7332091" y="9404731"/>
                  </a:lnTo>
                  <a:lnTo>
                    <a:pt x="7315200" y="94047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222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057383" y="2639063"/>
            <a:ext cx="5511803" cy="135131"/>
            <a:chOff x="0" y="0"/>
            <a:chExt cx="7349071" cy="1801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31520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48982" cy="180088"/>
            </a:xfrm>
            <a:custGeom>
              <a:avLst/>
              <a:gdLst/>
              <a:ahLst/>
              <a:cxnLst/>
              <a:rect r="r" b="b" t="t" l="l"/>
              <a:pathLst>
                <a:path h="180088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392911" y="2956303"/>
            <a:ext cx="2024377" cy="561337"/>
            <a:chOff x="0" y="0"/>
            <a:chExt cx="2699169" cy="74844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7C3AED">
                <a:alpha val="3922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699258" cy="748538"/>
            </a:xfrm>
            <a:custGeom>
              <a:avLst/>
              <a:gdLst/>
              <a:ahLst/>
              <a:cxnLst/>
              <a:rect r="r" b="b" t="t" l="l"/>
              <a:pathLst>
                <a:path h="748538" w="2699258">
                  <a:moveTo>
                    <a:pt x="8509" y="0"/>
                  </a:moveTo>
                  <a:lnTo>
                    <a:pt x="2690749" y="0"/>
                  </a:lnTo>
                  <a:cubicBezTo>
                    <a:pt x="2695448" y="0"/>
                    <a:pt x="2699258" y="3810"/>
                    <a:pt x="2699258" y="8509"/>
                  </a:cubicBezTo>
                  <a:lnTo>
                    <a:pt x="2699258" y="740029"/>
                  </a:lnTo>
                  <a:cubicBezTo>
                    <a:pt x="2699258" y="744728"/>
                    <a:pt x="2695448" y="748538"/>
                    <a:pt x="269074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690749" y="731520"/>
                  </a:lnTo>
                  <a:lnTo>
                    <a:pt x="2690749" y="740029"/>
                  </a:lnTo>
                  <a:lnTo>
                    <a:pt x="2682240" y="740029"/>
                  </a:lnTo>
                  <a:lnTo>
                    <a:pt x="2682240" y="8509"/>
                  </a:lnTo>
                  <a:lnTo>
                    <a:pt x="2690749" y="8509"/>
                  </a:lnTo>
                  <a:lnTo>
                    <a:pt x="2690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399264" y="2962656"/>
            <a:ext cx="2011680" cy="548640"/>
            <a:chOff x="0" y="0"/>
            <a:chExt cx="26822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593824" y="2999232"/>
            <a:ext cx="2651760" cy="475488"/>
            <a:chOff x="0" y="0"/>
            <a:chExt cx="3535680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535680" cy="633984"/>
            </a:xfrm>
            <a:custGeom>
              <a:avLst/>
              <a:gdLst/>
              <a:ahLst/>
              <a:cxnLst/>
              <a:rect r="r" b="b" t="t" l="l"/>
              <a:pathLst>
                <a:path h="63398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3535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DDD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18–36 Months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99264" y="3803904"/>
            <a:ext cx="4937760" cy="1243584"/>
            <a:chOff x="0" y="0"/>
            <a:chExt cx="6583680" cy="16581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Pan-India rollout across all states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99264" y="5212080"/>
            <a:ext cx="4937760" cy="1243584"/>
            <a:chOff x="0" y="0"/>
            <a:chExt cx="6583680" cy="16581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budget recommendations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399264" y="6620256"/>
            <a:ext cx="4937760" cy="1243584"/>
            <a:chOff x="0" y="0"/>
            <a:chExt cx="6583680" cy="16581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Vendor rating &amp; review system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399264" y="8028432"/>
            <a:ext cx="4937760" cy="1243584"/>
            <a:chOff x="0" y="0"/>
            <a:chExt cx="6583680" cy="16581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6583680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F5F0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FestFlow for schools &amp; corporate events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18823" y="9643367"/>
            <a:ext cx="16850363" cy="464315"/>
            <a:chOff x="0" y="0"/>
            <a:chExt cx="22467151" cy="61908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2433280" cy="585216"/>
            </a:xfrm>
            <a:custGeom>
              <a:avLst/>
              <a:gdLst/>
              <a:ahLst/>
              <a:cxnLst/>
              <a:rect r="r" b="b" t="t" l="l"/>
              <a:pathLst>
                <a:path h="5852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A0A0A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467063" cy="619000"/>
            </a:xfrm>
            <a:custGeom>
              <a:avLst/>
              <a:gdLst/>
              <a:ahLst/>
              <a:cxnLst/>
              <a:rect r="r" b="b" t="t" l="l"/>
              <a:pathLst>
                <a:path h="61900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602107"/>
                  </a:lnTo>
                  <a:cubicBezTo>
                    <a:pt x="22467063" y="611505"/>
                    <a:pt x="22459443" y="618998"/>
                    <a:pt x="22450171" y="618998"/>
                  </a:cubicBezTo>
                  <a:lnTo>
                    <a:pt x="16891" y="618998"/>
                  </a:lnTo>
                  <a:cubicBezTo>
                    <a:pt x="7620" y="619125"/>
                    <a:pt x="0" y="611505"/>
                    <a:pt x="0" y="6021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02107"/>
                  </a:lnTo>
                  <a:lnTo>
                    <a:pt x="16891" y="602107"/>
                  </a:lnTo>
                  <a:lnTo>
                    <a:pt x="16891" y="585216"/>
                  </a:lnTo>
                  <a:lnTo>
                    <a:pt x="22450171" y="585216"/>
                  </a:lnTo>
                  <a:lnTo>
                    <a:pt x="22450171" y="602107"/>
                  </a:lnTo>
                  <a:lnTo>
                    <a:pt x="22433280" y="60210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14400" y="9656064"/>
            <a:ext cx="16459200" cy="438912"/>
            <a:chOff x="0" y="0"/>
            <a:chExt cx="21945600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219456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F0E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fest</a:t>
              </a:r>
              <a:r>
                <a:rPr lang="en-US" sz="2000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FLOW</a:t>
              </a:r>
              <a:r>
                <a:rPr lang="en-US" sz="2000">
                  <a:solidFill>
                    <a:srgbClr val="555555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·  From Chaos to Celebration — One Platform for Every Fest.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0608" y="5374662"/>
            <a:ext cx="14906784" cy="662524"/>
            <a:chOff x="0" y="0"/>
            <a:chExt cx="21945600" cy="975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59"/>
                </a:lnSpc>
              </a:pPr>
              <a:r>
                <a:rPr lang="en-US" b="true" sz="3299" spc="1319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FESTFLOW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44233" y="3730353"/>
            <a:ext cx="11399535" cy="1413147"/>
            <a:chOff x="0" y="0"/>
            <a:chExt cx="15199379" cy="18841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99379" cy="1884196"/>
            </a:xfrm>
            <a:custGeom>
              <a:avLst/>
              <a:gdLst/>
              <a:ahLst/>
              <a:cxnLst/>
              <a:rect r="r" b="b" t="t" l="l"/>
              <a:pathLst>
                <a:path h="1884196" w="15199379">
                  <a:moveTo>
                    <a:pt x="0" y="0"/>
                  </a:moveTo>
                  <a:lnTo>
                    <a:pt x="15199379" y="0"/>
                  </a:lnTo>
                  <a:lnTo>
                    <a:pt x="15199379" y="1884196"/>
                  </a:lnTo>
                  <a:lnTo>
                    <a:pt x="0" y="18841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298" r="-44384" b="-1605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5199379" cy="1903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19"/>
                </a:lnSpc>
              </a:pPr>
              <a:r>
                <a:rPr lang="en-US" sz="7599" b="true">
                  <a:solidFill>
                    <a:srgbClr val="F5F0E8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8095015"/>
            <a:ext cx="16230600" cy="1163285"/>
            <a:chOff x="0" y="0"/>
            <a:chExt cx="28506383" cy="2043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06384" cy="2043120"/>
            </a:xfrm>
            <a:custGeom>
              <a:avLst/>
              <a:gdLst/>
              <a:ahLst/>
              <a:cxnLst/>
              <a:rect r="r" b="b" t="t" l="l"/>
              <a:pathLst>
                <a:path h="2043120" w="28506384">
                  <a:moveTo>
                    <a:pt x="0" y="0"/>
                  </a:moveTo>
                  <a:lnTo>
                    <a:pt x="28506384" y="0"/>
                  </a:lnTo>
                  <a:lnTo>
                    <a:pt x="28506384" y="2043120"/>
                  </a:lnTo>
                  <a:lnTo>
                    <a:pt x="0" y="204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71" r="23015" b="-12361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8506383" cy="2062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5F0E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fest</a:t>
              </a:r>
              <a:r>
                <a:rPr lang="en-US" sz="2000" b="true">
                  <a:solidFill>
                    <a:srgbClr val="C8F13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FLOW</a:t>
              </a:r>
              <a:r>
                <a:rPr lang="en-US" sz="2000">
                  <a:solidFill>
                    <a:srgbClr val="555555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 ·  From Chaos to Celebration — One Platform for Every Fest.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DAHHXvB-olg</dc:identifier>
  <dcterms:modified xsi:type="dcterms:W3CDTF">2011-08-01T06:04:30Z</dcterms:modified>
  <cp:revision>1</cp:revision>
  <dc:title>festFLOW</dc:title>
</cp:coreProperties>
</file>